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84162" autoAdjust="0"/>
  </p:normalViewPr>
  <p:slideViewPr>
    <p:cSldViewPr snapToGrid="0" snapToObjects="1">
      <p:cViewPr varScale="1">
        <p:scale>
          <a:sx n="69" d="100"/>
          <a:sy n="69" d="100"/>
        </p:scale>
        <p:origin x="10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865D3-07FC-48B7-A459-8547094F068B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9696EC-5411-4B7A-A3FA-F6FE9BC25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50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Сайн</a:t>
            </a:r>
            <a:r>
              <a:rPr lang="en-US" dirty="0"/>
              <a:t> </a:t>
            </a:r>
            <a:r>
              <a:rPr lang="en-US" dirty="0" err="1"/>
              <a:t>байцгаана</a:t>
            </a:r>
            <a:r>
              <a:rPr lang="en-US" dirty="0"/>
              <a:t> </a:t>
            </a:r>
            <a:r>
              <a:rPr lang="en-US" dirty="0" err="1"/>
              <a:t>уу</a:t>
            </a:r>
            <a:r>
              <a:rPr lang="en-US" dirty="0"/>
              <a:t>. B241940502 </a:t>
            </a:r>
            <a:r>
              <a:rPr lang="en-US" dirty="0" err="1"/>
              <a:t>кодтой</a:t>
            </a:r>
            <a:r>
              <a:rPr lang="en-US" dirty="0"/>
              <a:t> </a:t>
            </a:r>
            <a:r>
              <a:rPr lang="en-US" dirty="0" err="1"/>
              <a:t>Мэдээллийн</a:t>
            </a:r>
            <a:r>
              <a:rPr lang="en-US" dirty="0"/>
              <a:t> </a:t>
            </a:r>
            <a:r>
              <a:rPr lang="en-US" dirty="0" err="1"/>
              <a:t>технологийн</a:t>
            </a:r>
            <a:r>
              <a:rPr lang="en-US" dirty="0"/>
              <a:t> </a:t>
            </a:r>
            <a:r>
              <a:rPr lang="en-US" dirty="0" err="1"/>
              <a:t>тэнхимийн</a:t>
            </a:r>
            <a:r>
              <a:rPr lang="en-US" dirty="0"/>
              <a:t> 4-р </a:t>
            </a:r>
            <a:r>
              <a:rPr lang="en-US" dirty="0" err="1"/>
              <a:t>курсын</a:t>
            </a:r>
            <a:r>
              <a:rPr lang="en-US" dirty="0"/>
              <a:t> </a:t>
            </a:r>
            <a:r>
              <a:rPr lang="en-US" dirty="0" err="1"/>
              <a:t>оюутан</a:t>
            </a:r>
            <a:r>
              <a:rPr lang="en-US" dirty="0"/>
              <a:t> Түвшинзаяа </a:t>
            </a:r>
            <a:r>
              <a:rPr lang="mn-MN" dirty="0"/>
              <a:t>овогтой</a:t>
            </a:r>
            <a:r>
              <a:rPr lang="en-US" dirty="0"/>
              <a:t> Бөхбилэгт </a:t>
            </a:r>
            <a:r>
              <a:rPr lang="en-US" dirty="0" err="1"/>
              <a:t>байна</a:t>
            </a:r>
            <a:r>
              <a:rPr lang="en-US" dirty="0"/>
              <a:t>.. </a:t>
            </a:r>
            <a:r>
              <a:rPr lang="en-US" dirty="0" err="1"/>
              <a:t>Өнөөдөр</a:t>
            </a:r>
            <a:r>
              <a:rPr lang="en-US" dirty="0"/>
              <a:t> </a:t>
            </a:r>
            <a:r>
              <a:rPr lang="mn-MN" dirty="0"/>
              <a:t>П.Энхтайван багшийн удирдлага доор хийсэн</a:t>
            </a:r>
            <a:r>
              <a:rPr lang="en-US" dirty="0"/>
              <a:t>“</a:t>
            </a:r>
            <a:r>
              <a:rPr lang="en-US" dirty="0" err="1"/>
              <a:t>Онлайн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” </a:t>
            </a:r>
            <a:r>
              <a:rPr lang="en-US" dirty="0" err="1"/>
              <a:t>сэдэвт</a:t>
            </a:r>
            <a:r>
              <a:rPr lang="en-US" dirty="0"/>
              <a:t> </a:t>
            </a:r>
            <a:r>
              <a:rPr lang="en-US" dirty="0" err="1"/>
              <a:t>бакалаврын</a:t>
            </a:r>
            <a:r>
              <a:rPr lang="en-US" dirty="0"/>
              <a:t> </a:t>
            </a:r>
            <a:r>
              <a:rPr lang="en-US" dirty="0" err="1"/>
              <a:t>дипломын</a:t>
            </a:r>
            <a:r>
              <a:rPr lang="en-US" dirty="0"/>
              <a:t> </a:t>
            </a:r>
            <a:r>
              <a:rPr lang="en-US" dirty="0" err="1"/>
              <a:t>ажлаа</a:t>
            </a:r>
            <a:r>
              <a:rPr lang="en-US" dirty="0"/>
              <a:t> </a:t>
            </a:r>
            <a:r>
              <a:rPr lang="en-US" dirty="0" err="1"/>
              <a:t>танилцуул</a:t>
            </a:r>
            <a:r>
              <a:rPr lang="mn-MN" dirty="0"/>
              <a:t>ъя.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7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Монгол</a:t>
            </a:r>
            <a:r>
              <a:rPr lang="en-US" dirty="0"/>
              <a:t> </a:t>
            </a:r>
            <a:r>
              <a:rPr lang="en-US" dirty="0" err="1"/>
              <a:t>Улсад</a:t>
            </a:r>
            <a:r>
              <a:rPr lang="en-US" dirty="0"/>
              <a:t> </a:t>
            </a:r>
            <a:r>
              <a:rPr lang="en-US" dirty="0" err="1"/>
              <a:t>одоогоор</a:t>
            </a:r>
            <a:r>
              <a:rPr lang="en-US" dirty="0"/>
              <a:t> </a:t>
            </a:r>
            <a:r>
              <a:rPr lang="mn-MN" dirty="0"/>
              <a:t>бодит цагийн </a:t>
            </a:r>
            <a:r>
              <a:rPr lang="en-US" dirty="0" err="1"/>
              <a:t>онлайн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хязгаарлагдмал</a:t>
            </a:r>
            <a:r>
              <a:rPr lang="en-US" dirty="0"/>
              <a:t> </a:t>
            </a:r>
            <a:r>
              <a:rPr lang="en-US" dirty="0" err="1"/>
              <a:t>бай</a:t>
            </a:r>
            <a:r>
              <a:rPr lang="mn-MN" dirty="0"/>
              <a:t>гаа</a:t>
            </a:r>
            <a:r>
              <a:rPr lang="en-US" dirty="0"/>
              <a:t>. </a:t>
            </a:r>
            <a:r>
              <a:rPr lang="en-US" dirty="0" err="1"/>
              <a:t>Одоо</a:t>
            </a:r>
            <a:r>
              <a:rPr lang="en-US" dirty="0"/>
              <a:t> </a:t>
            </a:r>
            <a:r>
              <a:rPr lang="en-US" dirty="0" err="1"/>
              <a:t>ашиглагдаж</a:t>
            </a:r>
            <a:r>
              <a:rPr lang="en-US" dirty="0"/>
              <a:t> </a:t>
            </a:r>
            <a:r>
              <a:rPr lang="en-US" dirty="0" err="1"/>
              <a:t>буй</a:t>
            </a:r>
            <a:r>
              <a:rPr lang="en-US" dirty="0"/>
              <a:t> </a:t>
            </a:r>
            <a:r>
              <a:rPr lang="en-US" dirty="0" err="1"/>
              <a:t>зарын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цахим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платформууд</a:t>
            </a:r>
            <a:r>
              <a:rPr lang="en-US" dirty="0"/>
              <a:t> </a:t>
            </a:r>
            <a:r>
              <a:rPr lang="en-US" dirty="0" err="1"/>
              <a:t>нь</a:t>
            </a:r>
            <a:r>
              <a:rPr lang="en-US" dirty="0"/>
              <a:t> </a:t>
            </a:r>
            <a:r>
              <a:rPr lang="en-US" dirty="0" err="1"/>
              <a:t>ихэвчлэн</a:t>
            </a:r>
            <a:r>
              <a:rPr lang="en-US" dirty="0"/>
              <a:t> </a:t>
            </a:r>
            <a:r>
              <a:rPr lang="en-US" dirty="0" err="1"/>
              <a:t>тогтмол</a:t>
            </a:r>
            <a:r>
              <a:rPr lang="en-US" dirty="0"/>
              <a:t> </a:t>
            </a:r>
            <a:r>
              <a:rPr lang="en-US" dirty="0" err="1"/>
              <a:t>үнийн</a:t>
            </a:r>
            <a:r>
              <a:rPr lang="en-US" dirty="0"/>
              <a:t> </a:t>
            </a:r>
            <a:r>
              <a:rPr lang="en-US" dirty="0" err="1"/>
              <a:t>загварт</a:t>
            </a:r>
            <a:r>
              <a:rPr lang="en-US" dirty="0"/>
              <a:t> </a:t>
            </a:r>
            <a:r>
              <a:rPr lang="en-US" dirty="0" err="1"/>
              <a:t>тулгуурладаг</a:t>
            </a:r>
            <a:r>
              <a:rPr lang="en-US" dirty="0"/>
              <a:t> </a:t>
            </a:r>
            <a:r>
              <a:rPr lang="en-US" dirty="0" err="1"/>
              <a:t>бөгөөд</a:t>
            </a:r>
            <a:r>
              <a:rPr lang="en-US" dirty="0"/>
              <a:t> </a:t>
            </a:r>
            <a:r>
              <a:rPr lang="mn-MN" dirty="0"/>
              <a:t>бодит цагийн</a:t>
            </a:r>
            <a:r>
              <a:rPr lang="en-US" dirty="0"/>
              <a:t> </a:t>
            </a:r>
            <a:r>
              <a:rPr lang="en-US" dirty="0" err="1"/>
              <a:t>үнэ</a:t>
            </a:r>
            <a:r>
              <a:rPr lang="en-US" dirty="0"/>
              <a:t> </a:t>
            </a:r>
            <a:r>
              <a:rPr lang="en-US" dirty="0" err="1"/>
              <a:t>өсгөх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мобайл</a:t>
            </a:r>
            <a:r>
              <a:rPr lang="en-US" dirty="0"/>
              <a:t> </a:t>
            </a:r>
            <a:r>
              <a:rPr lang="en-US" dirty="0" err="1"/>
              <a:t>төвтэй</a:t>
            </a:r>
            <a:r>
              <a:rPr lang="en-US" dirty="0"/>
              <a:t> </a:t>
            </a:r>
            <a:r>
              <a:rPr lang="en-US" dirty="0" err="1"/>
              <a:t>шийдэл</a:t>
            </a:r>
            <a:r>
              <a:rPr lang="en-US" dirty="0"/>
              <a:t> </a:t>
            </a:r>
            <a:r>
              <a:rPr lang="en-US" dirty="0" err="1"/>
              <a:t>дутмаг</a:t>
            </a:r>
            <a:r>
              <a:rPr lang="en-US" dirty="0"/>
              <a:t> </a:t>
            </a:r>
            <a:r>
              <a:rPr lang="en-US" dirty="0" err="1"/>
              <a:t>бай</a:t>
            </a:r>
            <a:r>
              <a:rPr lang="mn-MN" dirty="0"/>
              <a:t>гаа.</a:t>
            </a:r>
            <a:endParaRPr lang="en-US" dirty="0"/>
          </a:p>
          <a:p>
            <a:r>
              <a:rPr lang="en-US" dirty="0" err="1"/>
              <a:t>Энэхүү</a:t>
            </a:r>
            <a:r>
              <a:rPr lang="en-US" dirty="0"/>
              <a:t> </a:t>
            </a:r>
            <a:r>
              <a:rPr lang="en-US" dirty="0" err="1"/>
              <a:t>асуудлыг</a:t>
            </a:r>
            <a:r>
              <a:rPr lang="en-US" dirty="0"/>
              <a:t> </a:t>
            </a:r>
            <a:r>
              <a:rPr lang="en-US" dirty="0" err="1"/>
              <a:t>шийдвэрлэхийн</a:t>
            </a:r>
            <a:r>
              <a:rPr lang="en-US" dirty="0"/>
              <a:t> </a:t>
            </a:r>
            <a:r>
              <a:rPr lang="en-US" dirty="0" err="1"/>
              <a:t>тулд</a:t>
            </a:r>
            <a:r>
              <a:rPr lang="en-US" dirty="0"/>
              <a:t> Socket.IO </a:t>
            </a:r>
            <a:r>
              <a:rPr lang="en-US" dirty="0" err="1"/>
              <a:t>ашигласан</a:t>
            </a:r>
            <a:r>
              <a:rPr lang="en-US" dirty="0"/>
              <a:t> </a:t>
            </a:r>
            <a:r>
              <a:rPr lang="en-US" dirty="0" err="1"/>
              <a:t>бодит</a:t>
            </a:r>
            <a:r>
              <a:rPr lang="en-US" dirty="0"/>
              <a:t> </a:t>
            </a:r>
            <a:r>
              <a:rPr lang="en-US" dirty="0" err="1"/>
              <a:t>цагийн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, Web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мобайл</a:t>
            </a:r>
            <a:r>
              <a:rPr lang="en-US" dirty="0"/>
              <a:t> </a:t>
            </a:r>
            <a:r>
              <a:rPr lang="en-US" dirty="0" err="1"/>
              <a:t>платформыг</a:t>
            </a:r>
            <a:r>
              <a:rPr lang="en-US" dirty="0"/>
              <a:t> </a:t>
            </a:r>
            <a:r>
              <a:rPr lang="en-US" dirty="0" err="1"/>
              <a:t>нэг</a:t>
            </a:r>
            <a:r>
              <a:rPr lang="en-US" dirty="0"/>
              <a:t> </a:t>
            </a:r>
            <a:r>
              <a:rPr lang="en-US" dirty="0" err="1"/>
              <a:t>кодын</a:t>
            </a:r>
            <a:r>
              <a:rPr lang="en-US" dirty="0"/>
              <a:t> </a:t>
            </a:r>
            <a:r>
              <a:rPr lang="en-US" dirty="0" err="1"/>
              <a:t>сангаар</a:t>
            </a:r>
            <a:r>
              <a:rPr lang="en-US" dirty="0"/>
              <a:t> </a:t>
            </a:r>
            <a:r>
              <a:rPr lang="en-US" dirty="0" err="1"/>
              <a:t>хөгжүүлэх</a:t>
            </a:r>
            <a:r>
              <a:rPr lang="en-US" dirty="0"/>
              <a:t>, </a:t>
            </a:r>
            <a:r>
              <a:rPr lang="en-US" dirty="0" err="1"/>
              <a:t>QPay</a:t>
            </a:r>
            <a:r>
              <a:rPr lang="en-US" dirty="0"/>
              <a:t> </a:t>
            </a:r>
            <a:r>
              <a:rPr lang="en-US" dirty="0" err="1"/>
              <a:t>төлбөрийн</a:t>
            </a:r>
            <a:r>
              <a:rPr lang="en-US" dirty="0"/>
              <a:t> </a:t>
            </a:r>
            <a:r>
              <a:rPr lang="en-US" dirty="0" err="1"/>
              <a:t>системийг</a:t>
            </a:r>
            <a:r>
              <a:rPr lang="en-US" dirty="0"/>
              <a:t> </a:t>
            </a:r>
            <a:r>
              <a:rPr lang="en-US" dirty="0" err="1"/>
              <a:t>нэгтгэх</a:t>
            </a:r>
            <a:r>
              <a:rPr lang="en-US" dirty="0"/>
              <a:t>, </a:t>
            </a:r>
            <a:r>
              <a:rPr lang="en-US" dirty="0" err="1"/>
              <a:t>мөн</a:t>
            </a:r>
            <a:r>
              <a:rPr lang="en-US" dirty="0"/>
              <a:t> Google OAuth </a:t>
            </a:r>
            <a:r>
              <a:rPr lang="en-US" dirty="0" err="1"/>
              <a:t>болон</a:t>
            </a:r>
            <a:r>
              <a:rPr lang="en-US" dirty="0"/>
              <a:t> JWT-д </a:t>
            </a:r>
            <a:r>
              <a:rPr lang="en-US" dirty="0" err="1"/>
              <a:t>суурилсан</a:t>
            </a:r>
            <a:r>
              <a:rPr lang="en-US" dirty="0"/>
              <a:t> </a:t>
            </a:r>
            <a:r>
              <a:rPr lang="en-US" dirty="0" err="1"/>
              <a:t>хэрэглэгчийн</a:t>
            </a:r>
            <a:r>
              <a:rPr lang="en-US" dirty="0"/>
              <a:t> </a:t>
            </a:r>
            <a:r>
              <a:rPr lang="en-US" dirty="0" err="1"/>
              <a:t>баталгаажуулалт</a:t>
            </a:r>
            <a:r>
              <a:rPr lang="en-US" dirty="0"/>
              <a:t> </a:t>
            </a:r>
            <a:r>
              <a:rPr lang="en-US" dirty="0" err="1"/>
              <a:t>хэрэгжүүлэх</a:t>
            </a:r>
            <a:r>
              <a:rPr lang="en-US" dirty="0"/>
              <a:t> </a:t>
            </a:r>
            <a:r>
              <a:rPr lang="en-US" dirty="0" err="1"/>
              <a:t>зорилт</a:t>
            </a:r>
            <a:r>
              <a:rPr lang="en-US" dirty="0"/>
              <a:t> </a:t>
            </a:r>
            <a:r>
              <a:rPr lang="en-US" dirty="0" err="1"/>
              <a:t>тавьсан</a:t>
            </a:r>
            <a:r>
              <a:rPr lang="en-US" dirty="0"/>
              <a:t>.</a:t>
            </a:r>
          </a:p>
          <a:p>
            <a:r>
              <a:rPr lang="en-US" dirty="0" err="1"/>
              <a:t>Үүний</a:t>
            </a:r>
            <a:r>
              <a:rPr lang="en-US" dirty="0"/>
              <a:t> </a:t>
            </a:r>
            <a:r>
              <a:rPr lang="en-US" dirty="0" err="1"/>
              <a:t>үр</a:t>
            </a:r>
            <a:r>
              <a:rPr lang="en-US" dirty="0"/>
              <a:t> </a:t>
            </a:r>
            <a:r>
              <a:rPr lang="en-US" dirty="0" err="1"/>
              <a:t>дүнд</a:t>
            </a:r>
            <a:r>
              <a:rPr lang="en-US" dirty="0"/>
              <a:t> 34 API endpoint, 11 </a:t>
            </a:r>
            <a:r>
              <a:rPr lang="en-US" dirty="0" err="1"/>
              <a:t>өгөгдлийн</a:t>
            </a:r>
            <a:r>
              <a:rPr lang="en-US" dirty="0"/>
              <a:t> </a:t>
            </a:r>
            <a:r>
              <a:rPr lang="en-US" dirty="0" err="1"/>
              <a:t>сангийн</a:t>
            </a:r>
            <a:r>
              <a:rPr lang="en-US" dirty="0"/>
              <a:t> collection, 66 </a:t>
            </a:r>
            <a:r>
              <a:rPr lang="en-US" dirty="0" err="1"/>
              <a:t>ангилал</a:t>
            </a:r>
            <a:r>
              <a:rPr lang="en-US" dirty="0"/>
              <a:t> </a:t>
            </a:r>
            <a:r>
              <a:rPr lang="en-US" dirty="0" err="1"/>
              <a:t>бүхий</a:t>
            </a:r>
            <a:r>
              <a:rPr lang="en-US" dirty="0"/>
              <a:t> </a:t>
            </a:r>
            <a:r>
              <a:rPr lang="en-US" dirty="0" err="1"/>
              <a:t>бүрэн</a:t>
            </a:r>
            <a:r>
              <a:rPr lang="en-US" dirty="0"/>
              <a:t> </a:t>
            </a:r>
            <a:r>
              <a:rPr lang="en-US" dirty="0" err="1"/>
              <a:t>ажиллагаатай</a:t>
            </a:r>
            <a:r>
              <a:rPr lang="en-US" dirty="0"/>
              <a:t> </a:t>
            </a:r>
            <a:r>
              <a:rPr lang="en-US" dirty="0" err="1"/>
              <a:t>системийг</a:t>
            </a:r>
            <a:r>
              <a:rPr lang="en-US" dirty="0"/>
              <a:t> </a:t>
            </a:r>
            <a:r>
              <a:rPr lang="en-US" dirty="0" err="1"/>
              <a:t>хөгжүүлсэн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621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системүүдийг</a:t>
            </a:r>
            <a:r>
              <a:rPr lang="en-US" dirty="0"/>
              <a:t> </a:t>
            </a:r>
            <a:r>
              <a:rPr lang="en-US" dirty="0" err="1"/>
              <a:t>Англи</a:t>
            </a:r>
            <a:r>
              <a:rPr lang="en-US" dirty="0"/>
              <a:t>, </a:t>
            </a:r>
            <a:r>
              <a:rPr lang="en-US" dirty="0" err="1"/>
              <a:t>Голланд</a:t>
            </a:r>
            <a:r>
              <a:rPr lang="en-US" dirty="0"/>
              <a:t>, Sealed Bid </a:t>
            </a:r>
            <a:r>
              <a:rPr lang="en-US" dirty="0" err="1"/>
              <a:t>болон</a:t>
            </a:r>
            <a:r>
              <a:rPr lang="en-US" dirty="0"/>
              <a:t> Vickrey </a:t>
            </a:r>
            <a:r>
              <a:rPr lang="en-US" dirty="0" err="1"/>
              <a:t>гэсэн</a:t>
            </a:r>
            <a:r>
              <a:rPr lang="en-US" dirty="0"/>
              <a:t> </a:t>
            </a:r>
            <a:r>
              <a:rPr lang="en-US" dirty="0" err="1"/>
              <a:t>үндсэн</a:t>
            </a:r>
            <a:r>
              <a:rPr lang="en-US" dirty="0"/>
              <a:t> </a:t>
            </a:r>
            <a:r>
              <a:rPr lang="en-US" dirty="0" err="1"/>
              <a:t>төрлүүдэд</a:t>
            </a:r>
            <a:r>
              <a:rPr lang="en-US" dirty="0"/>
              <a:t> </a:t>
            </a:r>
            <a:r>
              <a:rPr lang="en-US" dirty="0" err="1"/>
              <a:t>ангилдаг</a:t>
            </a:r>
            <a:r>
              <a:rPr lang="en-US" dirty="0"/>
              <a:t>.</a:t>
            </a:r>
          </a:p>
          <a:p>
            <a:r>
              <a:rPr lang="en-US" dirty="0" err="1"/>
              <a:t>Манай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Англи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зарчмыг</a:t>
            </a:r>
            <a:r>
              <a:rPr lang="en-US" dirty="0"/>
              <a:t> </a:t>
            </a:r>
            <a:r>
              <a:rPr lang="en-US" dirty="0" err="1"/>
              <a:t>ашигладаг</a:t>
            </a:r>
            <a:r>
              <a:rPr lang="en-US" dirty="0"/>
              <a:t> </a:t>
            </a:r>
            <a:r>
              <a:rPr lang="en-US" dirty="0" err="1"/>
              <a:t>бөгөөд</a:t>
            </a:r>
            <a:r>
              <a:rPr lang="en-US" dirty="0"/>
              <a:t> </a:t>
            </a:r>
            <a:r>
              <a:rPr lang="en-US" dirty="0" err="1"/>
              <a:t>бодит</a:t>
            </a:r>
            <a:r>
              <a:rPr lang="en-US" dirty="0"/>
              <a:t> </a:t>
            </a:r>
            <a:r>
              <a:rPr lang="en-US" dirty="0" err="1"/>
              <a:t>цагийн</a:t>
            </a:r>
            <a:r>
              <a:rPr lang="en-US" dirty="0"/>
              <a:t> </a:t>
            </a:r>
            <a:r>
              <a:rPr lang="en-US" dirty="0" err="1"/>
              <a:t>үнэ</a:t>
            </a:r>
            <a:r>
              <a:rPr lang="en-US" dirty="0"/>
              <a:t> </a:t>
            </a:r>
            <a:r>
              <a:rPr lang="en-US" dirty="0" err="1"/>
              <a:t>өсгөх</a:t>
            </a:r>
            <a:r>
              <a:rPr lang="en-US" dirty="0"/>
              <a:t> </a:t>
            </a:r>
            <a:r>
              <a:rPr lang="en-US" dirty="0" err="1"/>
              <a:t>боломжтой</a:t>
            </a:r>
            <a:r>
              <a:rPr lang="en-US" dirty="0"/>
              <a:t>.</a:t>
            </a:r>
          </a:p>
          <a:p>
            <a:r>
              <a:rPr lang="en-US" dirty="0" err="1"/>
              <a:t>Мөн</a:t>
            </a:r>
            <a:r>
              <a:rPr lang="en-US" dirty="0"/>
              <a:t> Yahoo Auction, Mercari </a:t>
            </a:r>
            <a:r>
              <a:rPr lang="en-US" dirty="0" err="1"/>
              <a:t>болон</a:t>
            </a:r>
            <a:r>
              <a:rPr lang="en-US" dirty="0"/>
              <a:t> eBay </a:t>
            </a:r>
            <a:r>
              <a:rPr lang="en-US" dirty="0" err="1"/>
              <a:t>платформуудтай</a:t>
            </a:r>
            <a:r>
              <a:rPr lang="en-US" dirty="0"/>
              <a:t> </a:t>
            </a:r>
            <a:r>
              <a:rPr lang="en-US" dirty="0" err="1"/>
              <a:t>харьцуулахад</a:t>
            </a:r>
            <a:r>
              <a:rPr lang="en-US" dirty="0"/>
              <a:t> </a:t>
            </a:r>
            <a:r>
              <a:rPr lang="en-US" dirty="0" err="1"/>
              <a:t>Монгол</a:t>
            </a:r>
            <a:r>
              <a:rPr lang="en-US" dirty="0"/>
              <a:t> </a:t>
            </a:r>
            <a:r>
              <a:rPr lang="en-US" dirty="0" err="1"/>
              <a:t>хэл</a:t>
            </a:r>
            <a:r>
              <a:rPr lang="en-US" dirty="0"/>
              <a:t>, </a:t>
            </a:r>
            <a:r>
              <a:rPr lang="en-US" dirty="0" err="1"/>
              <a:t>QPay</a:t>
            </a:r>
            <a:r>
              <a:rPr lang="en-US" dirty="0"/>
              <a:t> </a:t>
            </a:r>
            <a:r>
              <a:rPr lang="en-US" dirty="0" err="1"/>
              <a:t>төлбөрийн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олон</a:t>
            </a:r>
            <a:r>
              <a:rPr lang="en-US" dirty="0"/>
              <a:t> </a:t>
            </a:r>
            <a:r>
              <a:rPr lang="en-US" dirty="0" err="1"/>
              <a:t>платформын</a:t>
            </a:r>
            <a:r>
              <a:rPr lang="en-US" dirty="0"/>
              <a:t> </a:t>
            </a:r>
            <a:r>
              <a:rPr lang="en-US" dirty="0" err="1"/>
              <a:t>дэмжлэгийг</a:t>
            </a:r>
            <a:r>
              <a:rPr lang="en-US" dirty="0"/>
              <a:t> </a:t>
            </a:r>
            <a:r>
              <a:rPr lang="en-US" dirty="0" err="1"/>
              <a:t>нэгтгэсэн</a:t>
            </a:r>
            <a:r>
              <a:rPr lang="en-US" dirty="0"/>
              <a:t> </a:t>
            </a:r>
            <a:r>
              <a:rPr lang="en-US" dirty="0" err="1"/>
              <a:t>шийдэл</a:t>
            </a:r>
            <a:r>
              <a:rPr lang="en-US" dirty="0"/>
              <a:t> </a:t>
            </a:r>
            <a:r>
              <a:rPr lang="en-US" dirty="0" err="1"/>
              <a:t>болсон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41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нь</a:t>
            </a:r>
            <a:r>
              <a:rPr lang="en-US" dirty="0"/>
              <a:t> Client Layer, Application Layer, Data Layer </a:t>
            </a:r>
            <a:r>
              <a:rPr lang="en-US" dirty="0" err="1"/>
              <a:t>гэсэн</a:t>
            </a:r>
            <a:r>
              <a:rPr lang="en-US" dirty="0"/>
              <a:t> </a:t>
            </a:r>
            <a:r>
              <a:rPr lang="en-US" dirty="0" err="1"/>
              <a:t>гурван</a:t>
            </a:r>
            <a:r>
              <a:rPr lang="en-US" dirty="0"/>
              <a:t> </a:t>
            </a:r>
            <a:r>
              <a:rPr lang="en-US" dirty="0" err="1"/>
              <a:t>үндсэн</a:t>
            </a:r>
            <a:r>
              <a:rPr lang="en-US" dirty="0"/>
              <a:t> </a:t>
            </a:r>
            <a:r>
              <a:rPr lang="en-US" dirty="0" err="1"/>
              <a:t>давхаргаас</a:t>
            </a:r>
            <a:r>
              <a:rPr lang="en-US" dirty="0"/>
              <a:t> </a:t>
            </a:r>
            <a:r>
              <a:rPr lang="en-US" dirty="0" err="1"/>
              <a:t>бүрдэнэ</a:t>
            </a:r>
            <a:r>
              <a:rPr lang="en-US" dirty="0"/>
              <a:t>.</a:t>
            </a:r>
          </a:p>
          <a:p>
            <a:r>
              <a:rPr lang="en-US" dirty="0"/>
              <a:t>Client Layer </a:t>
            </a:r>
            <a:r>
              <a:rPr lang="en-US" dirty="0" err="1"/>
              <a:t>дээр</a:t>
            </a:r>
            <a:r>
              <a:rPr lang="en-US" dirty="0"/>
              <a:t> React.js </a:t>
            </a:r>
            <a:r>
              <a:rPr lang="en-US" dirty="0" err="1"/>
              <a:t>болон</a:t>
            </a:r>
            <a:r>
              <a:rPr lang="en-US" dirty="0"/>
              <a:t> React Native </a:t>
            </a:r>
            <a:r>
              <a:rPr lang="en-US" dirty="0" err="1"/>
              <a:t>ашигласан</a:t>
            </a:r>
            <a:r>
              <a:rPr lang="en-US" dirty="0"/>
              <a:t> </a:t>
            </a:r>
            <a:r>
              <a:rPr lang="en-US" dirty="0" err="1"/>
              <a:t>веб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мобайл</a:t>
            </a:r>
            <a:r>
              <a:rPr lang="en-US" dirty="0"/>
              <a:t> </a:t>
            </a:r>
            <a:r>
              <a:rPr lang="en-US" dirty="0" err="1"/>
              <a:t>хэрэглэгчийн</a:t>
            </a:r>
            <a:r>
              <a:rPr lang="en-US" dirty="0"/>
              <a:t> </a:t>
            </a:r>
            <a:r>
              <a:rPr lang="en-US" dirty="0" err="1"/>
              <a:t>интерфэйс</a:t>
            </a:r>
            <a:r>
              <a:rPr lang="en-US" dirty="0"/>
              <a:t> </a:t>
            </a:r>
            <a:r>
              <a:rPr lang="en-US" dirty="0" err="1"/>
              <a:t>ажиллана</a:t>
            </a:r>
            <a:r>
              <a:rPr lang="en-US" dirty="0"/>
              <a:t>.</a:t>
            </a:r>
          </a:p>
          <a:p>
            <a:r>
              <a:rPr lang="en-US" dirty="0"/>
              <a:t>Application Layer </a:t>
            </a:r>
            <a:r>
              <a:rPr lang="en-US" dirty="0" err="1"/>
              <a:t>дээр</a:t>
            </a:r>
            <a:r>
              <a:rPr lang="en-US" dirty="0"/>
              <a:t> Node.js, Express </a:t>
            </a:r>
            <a:r>
              <a:rPr lang="en-US" dirty="0" err="1"/>
              <a:t>болон</a:t>
            </a:r>
            <a:r>
              <a:rPr lang="en-US" dirty="0"/>
              <a:t> Socket.IO </a:t>
            </a:r>
            <a:r>
              <a:rPr lang="en-US" dirty="0" err="1"/>
              <a:t>ашиглан</a:t>
            </a:r>
            <a:r>
              <a:rPr lang="en-US" dirty="0"/>
              <a:t> </a:t>
            </a:r>
            <a:r>
              <a:rPr lang="en-US" dirty="0" err="1"/>
              <a:t>серверийн</a:t>
            </a:r>
            <a:r>
              <a:rPr lang="en-US" dirty="0"/>
              <a:t> </a:t>
            </a:r>
            <a:r>
              <a:rPr lang="en-US" dirty="0" err="1"/>
              <a:t>логик</a:t>
            </a:r>
            <a:r>
              <a:rPr lang="en-US" dirty="0"/>
              <a:t> </a:t>
            </a:r>
            <a:r>
              <a:rPr lang="mn-MN" dirty="0"/>
              <a:t>үйлдүүдийг</a:t>
            </a:r>
            <a:endParaRPr lang="en-US" dirty="0"/>
          </a:p>
          <a:p>
            <a:r>
              <a:rPr lang="en-US" dirty="0"/>
              <a:t>Data Layer </a:t>
            </a:r>
            <a:r>
              <a:rPr lang="en-US" dirty="0" err="1"/>
              <a:t>дээр</a:t>
            </a:r>
            <a:r>
              <a:rPr lang="en-US" dirty="0"/>
              <a:t> MongoDB Atlas </a:t>
            </a:r>
            <a:r>
              <a:rPr lang="en-US" dirty="0" err="1"/>
              <a:t>өгөгдлийн</a:t>
            </a:r>
            <a:r>
              <a:rPr lang="en-US" dirty="0"/>
              <a:t> </a:t>
            </a:r>
            <a:r>
              <a:rPr lang="en-US" dirty="0" err="1"/>
              <a:t>сан</a:t>
            </a:r>
            <a:r>
              <a:rPr lang="en-US" dirty="0"/>
              <a:t>, </a:t>
            </a:r>
            <a:r>
              <a:rPr lang="en-US" dirty="0" err="1"/>
              <a:t>Cloudinary</a:t>
            </a:r>
            <a:r>
              <a:rPr lang="en-US" dirty="0"/>
              <a:t> </a:t>
            </a:r>
            <a:r>
              <a:rPr lang="en-US" dirty="0" err="1"/>
              <a:t>зураг</a:t>
            </a:r>
            <a:r>
              <a:rPr lang="en-US" dirty="0"/>
              <a:t> </a:t>
            </a:r>
            <a:r>
              <a:rPr lang="en-US" dirty="0" err="1"/>
              <a:t>хадгалалт</a:t>
            </a:r>
            <a:r>
              <a:rPr lang="en-US" dirty="0"/>
              <a:t>, Firebase </a:t>
            </a:r>
            <a:r>
              <a:rPr lang="en-US" dirty="0" err="1"/>
              <a:t>мэдэгдлийн</a:t>
            </a:r>
            <a:r>
              <a:rPr lang="en-US" dirty="0"/>
              <a:t> </a:t>
            </a:r>
            <a:r>
              <a:rPr lang="en-US" dirty="0" err="1"/>
              <a:t>үйлчилгээ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QPay</a:t>
            </a:r>
            <a:r>
              <a:rPr lang="en-US" dirty="0"/>
              <a:t> </a:t>
            </a:r>
            <a:r>
              <a:rPr lang="en-US" dirty="0" err="1"/>
              <a:t>төлбөрийн</a:t>
            </a:r>
            <a:r>
              <a:rPr lang="en-US" dirty="0"/>
              <a:t> </a:t>
            </a:r>
            <a:r>
              <a:rPr lang="en-US" dirty="0" err="1"/>
              <a:t>системийг</a:t>
            </a:r>
            <a:r>
              <a:rPr lang="en-US" dirty="0"/>
              <a:t> </a:t>
            </a:r>
            <a:r>
              <a:rPr lang="en-US" dirty="0" err="1"/>
              <a:t>ашигласан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41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</a:t>
            </a:r>
            <a:r>
              <a:rPr lang="en-US" dirty="0" err="1"/>
              <a:t>хэсэг</a:t>
            </a:r>
            <a:r>
              <a:rPr lang="en-US" dirty="0"/>
              <a:t> </a:t>
            </a:r>
            <a:r>
              <a:rPr lang="en-US" dirty="0" err="1"/>
              <a:t>нь</a:t>
            </a:r>
            <a:r>
              <a:rPr lang="en-US" dirty="0"/>
              <a:t> User, Product </a:t>
            </a:r>
            <a:r>
              <a:rPr lang="en-US" dirty="0" err="1"/>
              <a:t>болон</a:t>
            </a:r>
            <a:r>
              <a:rPr lang="en-US" dirty="0"/>
              <a:t> Bidding </a:t>
            </a:r>
            <a:r>
              <a:rPr lang="en-US" dirty="0" err="1"/>
              <a:t>гэсэн</a:t>
            </a:r>
            <a:r>
              <a:rPr lang="en-US" dirty="0"/>
              <a:t> </a:t>
            </a:r>
            <a:r>
              <a:rPr lang="en-US" dirty="0" err="1"/>
              <a:t>үндсэн</a:t>
            </a:r>
            <a:r>
              <a:rPr lang="en-US" dirty="0"/>
              <a:t> </a:t>
            </a:r>
            <a:r>
              <a:rPr lang="en-US" dirty="0" err="1"/>
              <a:t>модулиудаас</a:t>
            </a:r>
            <a:r>
              <a:rPr lang="en-US" dirty="0"/>
              <a:t> </a:t>
            </a:r>
            <a:r>
              <a:rPr lang="en-US" dirty="0" err="1"/>
              <a:t>бүрдэнэ</a:t>
            </a:r>
            <a:r>
              <a:rPr lang="en-US" dirty="0"/>
              <a:t>.</a:t>
            </a:r>
          </a:p>
          <a:p>
            <a:r>
              <a:rPr lang="en-US" dirty="0"/>
              <a:t>User Module </a:t>
            </a:r>
            <a:r>
              <a:rPr lang="en-US" dirty="0" err="1"/>
              <a:t>нь</a:t>
            </a:r>
            <a:r>
              <a:rPr lang="en-US" dirty="0"/>
              <a:t> </a:t>
            </a:r>
            <a:r>
              <a:rPr lang="en-US" dirty="0" err="1"/>
              <a:t>бүртгэл</a:t>
            </a:r>
            <a:r>
              <a:rPr lang="en-US" dirty="0"/>
              <a:t>, </a:t>
            </a:r>
            <a:r>
              <a:rPr lang="en-US" dirty="0" err="1"/>
              <a:t>нэвтрэлт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Google OAuth </a:t>
            </a:r>
            <a:r>
              <a:rPr lang="en-US" dirty="0" err="1"/>
              <a:t>баталгаажуулалтыг</a:t>
            </a:r>
            <a:r>
              <a:rPr lang="en-US" dirty="0"/>
              <a:t> </a:t>
            </a:r>
            <a:r>
              <a:rPr lang="en-US" dirty="0" err="1"/>
              <a:t>хэрэгжүүлсэн</a:t>
            </a:r>
            <a:r>
              <a:rPr lang="en-US" dirty="0"/>
              <a:t>.</a:t>
            </a:r>
          </a:p>
          <a:p>
            <a:r>
              <a:rPr lang="en-US" dirty="0"/>
              <a:t>Product Module </a:t>
            </a:r>
            <a:r>
              <a:rPr lang="en-US" dirty="0" err="1"/>
              <a:t>нь</a:t>
            </a:r>
            <a:r>
              <a:rPr lang="en-US" dirty="0"/>
              <a:t> </a:t>
            </a:r>
            <a:r>
              <a:rPr lang="en-US" dirty="0" err="1"/>
              <a:t>бараа</a:t>
            </a:r>
            <a:r>
              <a:rPr lang="en-US" dirty="0"/>
              <a:t> </a:t>
            </a:r>
            <a:r>
              <a:rPr lang="en-US" dirty="0" err="1"/>
              <a:t>удирдах</a:t>
            </a:r>
            <a:r>
              <a:rPr lang="en-US" dirty="0"/>
              <a:t>, </a:t>
            </a:r>
            <a:r>
              <a:rPr lang="en-US" dirty="0" err="1"/>
              <a:t>зураг</a:t>
            </a:r>
            <a:r>
              <a:rPr lang="en-US" dirty="0"/>
              <a:t> </a:t>
            </a:r>
            <a:r>
              <a:rPr lang="en-US" dirty="0" err="1"/>
              <a:t>хадгалах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дэлгэрэнгүй</a:t>
            </a:r>
            <a:r>
              <a:rPr lang="en-US" dirty="0"/>
              <a:t> </a:t>
            </a:r>
            <a:r>
              <a:rPr lang="en-US" dirty="0" err="1"/>
              <a:t>мэдээлэл</a:t>
            </a:r>
            <a:r>
              <a:rPr lang="en-US" dirty="0"/>
              <a:t> </a:t>
            </a:r>
            <a:r>
              <a:rPr lang="en-US" dirty="0" err="1"/>
              <a:t>боловсруулах</a:t>
            </a:r>
            <a:r>
              <a:rPr lang="en-US" dirty="0"/>
              <a:t> </a:t>
            </a:r>
            <a:r>
              <a:rPr lang="en-US" dirty="0" err="1"/>
              <a:t>боломжтой</a:t>
            </a:r>
            <a:r>
              <a:rPr lang="en-US" dirty="0"/>
              <a:t>.</a:t>
            </a:r>
          </a:p>
          <a:p>
            <a:r>
              <a:rPr lang="en-US" dirty="0"/>
              <a:t>Bidding Module </a:t>
            </a:r>
            <a:r>
              <a:rPr lang="en-US" dirty="0" err="1"/>
              <a:t>нь</a:t>
            </a:r>
            <a:r>
              <a:rPr lang="en-US" dirty="0"/>
              <a:t> atomic transaction </a:t>
            </a:r>
            <a:r>
              <a:rPr lang="en-US" dirty="0" err="1"/>
              <a:t>ашиглан</a:t>
            </a:r>
            <a:r>
              <a:rPr lang="en-US" dirty="0"/>
              <a:t> </a:t>
            </a:r>
            <a:r>
              <a:rPr lang="en-US" dirty="0" err="1"/>
              <a:t>олон</a:t>
            </a:r>
            <a:r>
              <a:rPr lang="en-US" dirty="0"/>
              <a:t> </a:t>
            </a:r>
            <a:r>
              <a:rPr lang="en-US" dirty="0" err="1"/>
              <a:t>хэрэглэгч</a:t>
            </a:r>
            <a:r>
              <a:rPr lang="en-US" dirty="0"/>
              <a:t> </a:t>
            </a:r>
            <a:r>
              <a:rPr lang="en-US" dirty="0" err="1"/>
              <a:t>нэгэн</a:t>
            </a:r>
            <a:r>
              <a:rPr lang="en-US" dirty="0"/>
              <a:t> </a:t>
            </a:r>
            <a:r>
              <a:rPr lang="en-US" dirty="0" err="1"/>
              <a:t>зэрэг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өгөх</a:t>
            </a:r>
            <a:r>
              <a:rPr lang="en-US" dirty="0"/>
              <a:t> </a:t>
            </a:r>
            <a:r>
              <a:rPr lang="en-US" dirty="0" err="1"/>
              <a:t>үед</a:t>
            </a:r>
            <a:r>
              <a:rPr lang="en-US" dirty="0"/>
              <a:t> </a:t>
            </a:r>
            <a:r>
              <a:rPr lang="en-US" dirty="0" err="1"/>
              <a:t>өгөгдлийн</a:t>
            </a:r>
            <a:r>
              <a:rPr lang="en-US" dirty="0"/>
              <a:t> </a:t>
            </a:r>
            <a:r>
              <a:rPr lang="en-US" dirty="0" err="1"/>
              <a:t>зөрчил</a:t>
            </a:r>
            <a:r>
              <a:rPr lang="en-US" dirty="0"/>
              <a:t> </a:t>
            </a:r>
            <a:r>
              <a:rPr lang="en-US" dirty="0" err="1"/>
              <a:t>үүсэхээс</a:t>
            </a:r>
            <a:r>
              <a:rPr lang="en-US" dirty="0"/>
              <a:t> </a:t>
            </a:r>
            <a:r>
              <a:rPr lang="en-US" dirty="0" err="1"/>
              <a:t>сэргийлдэг</a:t>
            </a:r>
            <a:r>
              <a:rPr lang="en-US" dirty="0"/>
              <a:t>.</a:t>
            </a:r>
          </a:p>
          <a:p>
            <a:r>
              <a:rPr lang="en-US" dirty="0" err="1"/>
              <a:t>Мөн</a:t>
            </a:r>
            <a:r>
              <a:rPr lang="en-US" dirty="0"/>
              <a:t> </a:t>
            </a:r>
            <a:r>
              <a:rPr lang="en-US" dirty="0" err="1"/>
              <a:t>автомат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минут</a:t>
            </a:r>
            <a:r>
              <a:rPr lang="en-US" dirty="0"/>
              <a:t> </a:t>
            </a:r>
            <a:r>
              <a:rPr lang="en-US" dirty="0" err="1"/>
              <a:t>тутам</a:t>
            </a:r>
            <a:r>
              <a:rPr lang="en-US" dirty="0"/>
              <a:t> </a:t>
            </a:r>
            <a:r>
              <a:rPr lang="en-US" dirty="0" err="1"/>
              <a:t>ажиллаж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худалдааг</a:t>
            </a:r>
            <a:r>
              <a:rPr lang="en-US" dirty="0"/>
              <a:t> </a:t>
            </a:r>
            <a:r>
              <a:rPr lang="en-US" dirty="0" err="1"/>
              <a:t>эхлүүлэх</a:t>
            </a:r>
            <a:r>
              <a:rPr lang="en-US" dirty="0"/>
              <a:t>, </a:t>
            </a:r>
            <a:r>
              <a:rPr lang="en-US" dirty="0" err="1"/>
              <a:t>дуусгах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ялагчийг</a:t>
            </a:r>
            <a:r>
              <a:rPr lang="en-US" dirty="0"/>
              <a:t> </a:t>
            </a:r>
            <a:r>
              <a:rPr lang="en-US" dirty="0" err="1"/>
              <a:t>тодорхойлдог</a:t>
            </a:r>
            <a:r>
              <a:rPr lang="en-US" dirty="0"/>
              <a:t>.</a:t>
            </a:r>
          </a:p>
          <a:p>
            <a:r>
              <a:rPr lang="en-US" dirty="0"/>
              <a:t>Socket.IO </a:t>
            </a:r>
            <a:r>
              <a:rPr lang="en-US" dirty="0" err="1"/>
              <a:t>ашиглан</a:t>
            </a:r>
            <a:r>
              <a:rPr lang="en-US" dirty="0"/>
              <a:t> </a:t>
            </a:r>
            <a:r>
              <a:rPr lang="en-US" dirty="0" err="1"/>
              <a:t>bidUpdate</a:t>
            </a:r>
            <a:r>
              <a:rPr lang="en-US" dirty="0"/>
              <a:t>, outbid, </a:t>
            </a:r>
            <a:r>
              <a:rPr lang="en-US" dirty="0" err="1"/>
              <a:t>auctionEnded</a:t>
            </a:r>
            <a:r>
              <a:rPr lang="en-US" dirty="0"/>
              <a:t> </a:t>
            </a:r>
            <a:r>
              <a:rPr lang="en-US" dirty="0" err="1"/>
              <a:t>зэрэг</a:t>
            </a:r>
            <a:r>
              <a:rPr lang="en-US" dirty="0"/>
              <a:t> </a:t>
            </a:r>
            <a:r>
              <a:rPr lang="en-US" dirty="0" err="1"/>
              <a:t>бодит</a:t>
            </a:r>
            <a:r>
              <a:rPr lang="en-US" dirty="0"/>
              <a:t> </a:t>
            </a:r>
            <a:r>
              <a:rPr lang="en-US" dirty="0" err="1"/>
              <a:t>цагийн</a:t>
            </a:r>
            <a:r>
              <a:rPr lang="en-US" dirty="0"/>
              <a:t> </a:t>
            </a:r>
            <a:r>
              <a:rPr lang="en-US" dirty="0" err="1"/>
              <a:t>үйлдлүүдийг</a:t>
            </a:r>
            <a:r>
              <a:rPr lang="en-US" dirty="0"/>
              <a:t> </a:t>
            </a:r>
            <a:r>
              <a:rPr lang="en-US" dirty="0" err="1"/>
              <a:t>хэрэгжүүлсэн</a:t>
            </a:r>
            <a:r>
              <a:rPr lang="en-US" dirty="0"/>
              <a:t>.</a:t>
            </a:r>
          </a:p>
          <a:p>
            <a:r>
              <a:rPr lang="en-US" dirty="0" err="1"/>
              <a:t>QPay</a:t>
            </a:r>
            <a:r>
              <a:rPr lang="en-US" dirty="0"/>
              <a:t> webhook </a:t>
            </a:r>
            <a:r>
              <a:rPr lang="en-US" dirty="0" err="1"/>
              <a:t>ашиглан</a:t>
            </a:r>
            <a:r>
              <a:rPr lang="en-US" dirty="0"/>
              <a:t> </a:t>
            </a:r>
            <a:r>
              <a:rPr lang="en-US" dirty="0" err="1"/>
              <a:t>төлбөр</a:t>
            </a:r>
            <a:r>
              <a:rPr lang="en-US" dirty="0"/>
              <a:t> </a:t>
            </a:r>
            <a:r>
              <a:rPr lang="en-US" dirty="0" err="1"/>
              <a:t>баталгаажсаны</a:t>
            </a:r>
            <a:r>
              <a:rPr lang="en-US" dirty="0"/>
              <a:t> </a:t>
            </a:r>
            <a:r>
              <a:rPr lang="en-US" dirty="0" err="1"/>
              <a:t>дараа</a:t>
            </a:r>
            <a:r>
              <a:rPr lang="en-US" dirty="0"/>
              <a:t> </a:t>
            </a:r>
            <a:r>
              <a:rPr lang="en-US" dirty="0" err="1"/>
              <a:t>хэрэглэгчийн</a:t>
            </a:r>
            <a:r>
              <a:rPr lang="en-US" dirty="0"/>
              <a:t> </a:t>
            </a:r>
            <a:r>
              <a:rPr lang="en-US" dirty="0" err="1"/>
              <a:t>үлдэгдлийг</a:t>
            </a:r>
            <a:r>
              <a:rPr lang="en-US" dirty="0"/>
              <a:t> </a:t>
            </a:r>
            <a:r>
              <a:rPr lang="en-US" dirty="0" err="1"/>
              <a:t>автоматаар</a:t>
            </a:r>
            <a:r>
              <a:rPr lang="en-US" dirty="0"/>
              <a:t> </a:t>
            </a:r>
            <a:r>
              <a:rPr lang="en-US" dirty="0" err="1"/>
              <a:t>шинэчилдэг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95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Веб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дээр</a:t>
            </a:r>
            <a:r>
              <a:rPr lang="en-US" dirty="0"/>
              <a:t> </a:t>
            </a:r>
            <a:r>
              <a:rPr lang="en-US" dirty="0" err="1"/>
              <a:t>бараа</a:t>
            </a:r>
            <a:r>
              <a:rPr lang="en-US" dirty="0"/>
              <a:t> </a:t>
            </a:r>
            <a:r>
              <a:rPr lang="en-US" dirty="0" err="1"/>
              <a:t>хайх</a:t>
            </a:r>
            <a:r>
              <a:rPr lang="en-US" dirty="0"/>
              <a:t>, </a:t>
            </a:r>
            <a:r>
              <a:rPr lang="en-US" dirty="0" err="1"/>
              <a:t>ангиллаар</a:t>
            </a:r>
            <a:r>
              <a:rPr lang="en-US" dirty="0"/>
              <a:t> </a:t>
            </a:r>
            <a:r>
              <a:rPr lang="en-US" dirty="0" err="1"/>
              <a:t>шүүх</a:t>
            </a:r>
            <a:r>
              <a:rPr lang="en-US" dirty="0"/>
              <a:t>, </a:t>
            </a:r>
            <a:r>
              <a:rPr lang="en-US" dirty="0" err="1"/>
              <a:t>бараа</a:t>
            </a:r>
            <a:r>
              <a:rPr lang="en-US" dirty="0"/>
              <a:t> </a:t>
            </a:r>
            <a:r>
              <a:rPr lang="en-US" dirty="0" err="1"/>
              <a:t>нэмэх</a:t>
            </a:r>
            <a:r>
              <a:rPr lang="en-US" dirty="0"/>
              <a:t>, </a:t>
            </a:r>
            <a:r>
              <a:rPr lang="en-US" dirty="0" err="1"/>
              <a:t>админ</a:t>
            </a:r>
            <a:r>
              <a:rPr lang="en-US" dirty="0"/>
              <a:t> </a:t>
            </a:r>
            <a:r>
              <a:rPr lang="en-US" dirty="0" err="1"/>
              <a:t>самбар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хэрэглэгчийн</a:t>
            </a:r>
            <a:r>
              <a:rPr lang="en-US" dirty="0"/>
              <a:t> </a:t>
            </a:r>
            <a:r>
              <a:rPr lang="en-US" dirty="0" err="1"/>
              <a:t>профайл</a:t>
            </a:r>
            <a:r>
              <a:rPr lang="en-US" dirty="0"/>
              <a:t> </a:t>
            </a:r>
            <a:r>
              <a:rPr lang="en-US" dirty="0" err="1"/>
              <a:t>зэрэг</a:t>
            </a:r>
            <a:r>
              <a:rPr lang="en-US" dirty="0"/>
              <a:t> </a:t>
            </a:r>
            <a:r>
              <a:rPr lang="en-US" dirty="0" err="1"/>
              <a:t>үндсэн</a:t>
            </a:r>
            <a:r>
              <a:rPr lang="en-US" dirty="0"/>
              <a:t> </a:t>
            </a:r>
            <a:r>
              <a:rPr lang="mn-MN" dirty="0"/>
              <a:t>функцууд</a:t>
            </a:r>
            <a:r>
              <a:rPr lang="en-US" dirty="0" err="1"/>
              <a:t>ыг</a:t>
            </a:r>
            <a:r>
              <a:rPr lang="en-US" dirty="0"/>
              <a:t> </a:t>
            </a:r>
            <a:r>
              <a:rPr lang="en-US" dirty="0" err="1"/>
              <a:t>хэрэгжүүлсэн</a:t>
            </a:r>
            <a:r>
              <a:rPr lang="en-US" dirty="0"/>
              <a:t>.</a:t>
            </a:r>
          </a:p>
          <a:p>
            <a:r>
              <a:rPr lang="en-US" dirty="0" err="1"/>
              <a:t>Мобайл</a:t>
            </a:r>
            <a:r>
              <a:rPr lang="en-US" dirty="0"/>
              <a:t> </a:t>
            </a:r>
            <a:r>
              <a:rPr lang="en-US" dirty="0" err="1"/>
              <a:t>аппликейшн</a:t>
            </a:r>
            <a:r>
              <a:rPr lang="en-US" dirty="0"/>
              <a:t> </a:t>
            </a:r>
            <a:r>
              <a:rPr lang="en-US" dirty="0" err="1"/>
              <a:t>нь</a:t>
            </a:r>
            <a:r>
              <a:rPr lang="en-US" dirty="0"/>
              <a:t> React Native </a:t>
            </a:r>
            <a:r>
              <a:rPr lang="en-US" dirty="0" err="1"/>
              <a:t>болон</a:t>
            </a:r>
            <a:r>
              <a:rPr lang="en-US" dirty="0"/>
              <a:t> Expo </a:t>
            </a:r>
            <a:r>
              <a:rPr lang="en-US" dirty="0" err="1"/>
              <a:t>ашиглан</a:t>
            </a:r>
            <a:r>
              <a:rPr lang="en-US" dirty="0"/>
              <a:t> </a:t>
            </a:r>
            <a:r>
              <a:rPr lang="en-US" dirty="0" err="1"/>
              <a:t>хөгжүүлэгдсэн</a:t>
            </a:r>
            <a:r>
              <a:rPr lang="en-US" dirty="0"/>
              <a:t> </a:t>
            </a:r>
            <a:r>
              <a:rPr lang="en-US" dirty="0" err="1"/>
              <a:t>бөгөөд</a:t>
            </a:r>
            <a:r>
              <a:rPr lang="en-US" dirty="0"/>
              <a:t> iOS </a:t>
            </a:r>
            <a:r>
              <a:rPr lang="en-US" dirty="0" err="1"/>
              <a:t>болон</a:t>
            </a:r>
            <a:r>
              <a:rPr lang="en-US" dirty="0"/>
              <a:t> Android </a:t>
            </a:r>
            <a:r>
              <a:rPr lang="en-US" dirty="0" err="1"/>
              <a:t>платформыг</a:t>
            </a:r>
            <a:r>
              <a:rPr lang="en-US" dirty="0"/>
              <a:t> </a:t>
            </a:r>
            <a:r>
              <a:rPr lang="en-US" dirty="0" err="1"/>
              <a:t>нэг</a:t>
            </a:r>
            <a:r>
              <a:rPr lang="en-US" dirty="0"/>
              <a:t> </a:t>
            </a:r>
            <a:r>
              <a:rPr lang="en-US" dirty="0" err="1"/>
              <a:t>кодын</a:t>
            </a:r>
            <a:r>
              <a:rPr lang="en-US" dirty="0"/>
              <a:t> </a:t>
            </a:r>
            <a:r>
              <a:rPr lang="en-US" dirty="0" err="1"/>
              <a:t>сангаар</a:t>
            </a:r>
            <a:r>
              <a:rPr lang="en-US" dirty="0"/>
              <a:t> </a:t>
            </a:r>
            <a:r>
              <a:rPr lang="en-US" dirty="0" err="1"/>
              <a:t>дэмждэг</a:t>
            </a:r>
            <a:r>
              <a:rPr lang="en-US" dirty="0"/>
              <a:t>.</a:t>
            </a:r>
          </a:p>
          <a:p>
            <a:r>
              <a:rPr lang="en-US" dirty="0" err="1"/>
              <a:t>Мөн</a:t>
            </a:r>
            <a:r>
              <a:rPr lang="en-US" dirty="0"/>
              <a:t> Google OAuth </a:t>
            </a:r>
            <a:r>
              <a:rPr lang="en-US" dirty="0" err="1"/>
              <a:t>нэвтрэлт</a:t>
            </a:r>
            <a:r>
              <a:rPr lang="en-US" dirty="0"/>
              <a:t>, </a:t>
            </a:r>
            <a:r>
              <a:rPr lang="en-US" dirty="0" err="1"/>
              <a:t>QPay</a:t>
            </a:r>
            <a:r>
              <a:rPr lang="en-US" dirty="0"/>
              <a:t> </a:t>
            </a:r>
            <a:r>
              <a:rPr lang="en-US" dirty="0" err="1"/>
              <a:t>төлбөр</a:t>
            </a:r>
            <a:r>
              <a:rPr lang="en-US" dirty="0"/>
              <a:t>, Firebase push notification, Watchlist </a:t>
            </a:r>
            <a:r>
              <a:rPr lang="en-US" dirty="0" err="1"/>
              <a:t>болон</a:t>
            </a:r>
            <a:r>
              <a:rPr lang="en-US" dirty="0"/>
              <a:t> Review </a:t>
            </a:r>
            <a:r>
              <a:rPr lang="en-US" dirty="0" err="1"/>
              <a:t>зэрэг</a:t>
            </a:r>
            <a:r>
              <a:rPr lang="en-US" dirty="0"/>
              <a:t> </a:t>
            </a:r>
            <a:r>
              <a:rPr lang="en-US" dirty="0" err="1"/>
              <a:t>боломжуудыг</a:t>
            </a:r>
            <a:r>
              <a:rPr lang="en-US" dirty="0"/>
              <a:t> </a:t>
            </a:r>
            <a:r>
              <a:rPr lang="en-US" dirty="0" err="1"/>
              <a:t>агуулдаг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85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Энэхүү</a:t>
            </a:r>
            <a:r>
              <a:rPr lang="en-US" dirty="0"/>
              <a:t> </a:t>
            </a:r>
            <a:r>
              <a:rPr lang="en-US" dirty="0" err="1"/>
              <a:t>зураг</a:t>
            </a:r>
            <a:r>
              <a:rPr lang="en-US" dirty="0"/>
              <a:t> </a:t>
            </a:r>
            <a:r>
              <a:rPr lang="en-US" dirty="0" err="1"/>
              <a:t>нь</a:t>
            </a:r>
            <a:r>
              <a:rPr lang="en-US" dirty="0"/>
              <a:t> </a:t>
            </a:r>
            <a:r>
              <a:rPr lang="en-US" dirty="0" err="1"/>
              <a:t>системийн</a:t>
            </a:r>
            <a:r>
              <a:rPr lang="en-US" dirty="0"/>
              <a:t> </a:t>
            </a:r>
            <a:r>
              <a:rPr lang="en-US" dirty="0" err="1"/>
              <a:t>өгөгдлийн</a:t>
            </a:r>
            <a:r>
              <a:rPr lang="en-US" dirty="0"/>
              <a:t> </a:t>
            </a:r>
            <a:r>
              <a:rPr lang="en-US" dirty="0" err="1"/>
              <a:t>сангийн</a:t>
            </a:r>
            <a:r>
              <a:rPr lang="en-US" dirty="0"/>
              <a:t> </a:t>
            </a:r>
            <a:r>
              <a:rPr lang="en-US" dirty="0" err="1"/>
              <a:t>бүтцийг</a:t>
            </a:r>
            <a:r>
              <a:rPr lang="en-US" dirty="0"/>
              <a:t> </a:t>
            </a:r>
            <a:r>
              <a:rPr lang="en-US" dirty="0" err="1"/>
              <a:t>харуулж</a:t>
            </a:r>
            <a:r>
              <a:rPr lang="en-US" dirty="0"/>
              <a:t> </a:t>
            </a:r>
            <a:r>
              <a:rPr lang="en-US" dirty="0" err="1"/>
              <a:t>байна</a:t>
            </a:r>
            <a:r>
              <a:rPr lang="en-US" dirty="0"/>
              <a:t>.</a:t>
            </a:r>
          </a:p>
          <a:p>
            <a:r>
              <a:rPr lang="en-US" dirty="0" err="1"/>
              <a:t>Нийт</a:t>
            </a:r>
            <a:r>
              <a:rPr lang="en-US" dirty="0"/>
              <a:t> 11 collection </a:t>
            </a:r>
            <a:r>
              <a:rPr lang="en-US" dirty="0" err="1"/>
              <a:t>ашигласан</a:t>
            </a:r>
            <a:r>
              <a:rPr lang="en-US" dirty="0"/>
              <a:t> </a:t>
            </a:r>
            <a:r>
              <a:rPr lang="en-US" dirty="0" err="1"/>
              <a:t>бөгөөд</a:t>
            </a:r>
            <a:r>
              <a:rPr lang="en-US" dirty="0"/>
              <a:t> User, Product, Category, Bidding, Transaction </a:t>
            </a:r>
            <a:r>
              <a:rPr lang="en-US" dirty="0" err="1"/>
              <a:t>зэрэг</a:t>
            </a:r>
            <a:r>
              <a:rPr lang="en-US" dirty="0"/>
              <a:t> </a:t>
            </a:r>
            <a:r>
              <a:rPr lang="en-US" dirty="0" err="1"/>
              <a:t>үндсэн</a:t>
            </a:r>
            <a:r>
              <a:rPr lang="en-US" dirty="0"/>
              <a:t> entity-</a:t>
            </a:r>
            <a:r>
              <a:rPr lang="en-US" dirty="0" err="1"/>
              <a:t>үүд</a:t>
            </a:r>
            <a:r>
              <a:rPr lang="en-US" dirty="0"/>
              <a:t> </a:t>
            </a:r>
            <a:r>
              <a:rPr lang="en-US" dirty="0" err="1"/>
              <a:t>хоорондоо</a:t>
            </a:r>
            <a:r>
              <a:rPr lang="en-US" dirty="0"/>
              <a:t> </a:t>
            </a:r>
            <a:r>
              <a:rPr lang="en-US" dirty="0" err="1"/>
              <a:t>холбоотой</a:t>
            </a:r>
            <a:r>
              <a:rPr lang="en-US" dirty="0"/>
              <a:t> </a:t>
            </a:r>
            <a:r>
              <a:rPr lang="en-US" dirty="0" err="1"/>
              <a:t>ажиллана</a:t>
            </a:r>
            <a:r>
              <a:rPr lang="en-US" dirty="0"/>
              <a:t>.</a:t>
            </a:r>
          </a:p>
          <a:p>
            <a:r>
              <a:rPr lang="en-US" dirty="0" err="1"/>
              <a:t>Ингэснээр</a:t>
            </a:r>
            <a:r>
              <a:rPr lang="en-US" dirty="0"/>
              <a:t> </a:t>
            </a:r>
            <a:r>
              <a:rPr lang="en-US" dirty="0" err="1"/>
              <a:t>хэрэглэгч</a:t>
            </a:r>
            <a:r>
              <a:rPr lang="en-US" dirty="0"/>
              <a:t>, </a:t>
            </a:r>
            <a:r>
              <a:rPr lang="en-US" dirty="0" err="1"/>
              <a:t>бараа</a:t>
            </a:r>
            <a:r>
              <a:rPr lang="en-US" dirty="0"/>
              <a:t>,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</a:t>
            </a:r>
            <a:r>
              <a:rPr lang="en-US" dirty="0"/>
              <a:t>, </a:t>
            </a:r>
            <a:r>
              <a:rPr lang="en-US" dirty="0" err="1"/>
              <a:t>төлбөр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мэдэгдлийн</a:t>
            </a:r>
            <a:r>
              <a:rPr lang="en-US" dirty="0"/>
              <a:t> </a:t>
            </a:r>
            <a:r>
              <a:rPr lang="en-US" dirty="0" err="1"/>
              <a:t>мэдээллийг</a:t>
            </a:r>
            <a:r>
              <a:rPr lang="en-US" dirty="0"/>
              <a:t> </a:t>
            </a:r>
            <a:r>
              <a:rPr lang="en-US" dirty="0" err="1"/>
              <a:t>уялдаа</a:t>
            </a:r>
            <a:r>
              <a:rPr lang="en-US" dirty="0"/>
              <a:t> </a:t>
            </a:r>
            <a:r>
              <a:rPr lang="en-US" dirty="0" err="1"/>
              <a:t>холбоотой</a:t>
            </a:r>
            <a:r>
              <a:rPr lang="en-US" dirty="0"/>
              <a:t> </a:t>
            </a:r>
            <a:r>
              <a:rPr lang="en-US" dirty="0" err="1"/>
              <a:t>удирдах</a:t>
            </a:r>
            <a:r>
              <a:rPr lang="en-US" dirty="0"/>
              <a:t> </a:t>
            </a:r>
            <a:r>
              <a:rPr lang="en-US" dirty="0" err="1"/>
              <a:t>боломж</a:t>
            </a:r>
            <a:r>
              <a:rPr lang="en-US" dirty="0"/>
              <a:t> </a:t>
            </a:r>
            <a:r>
              <a:rPr lang="en-US" dirty="0" err="1"/>
              <a:t>бүрдсэн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36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Одоо</a:t>
            </a:r>
            <a:r>
              <a:rPr lang="en-US" dirty="0"/>
              <a:t> </a:t>
            </a:r>
            <a:r>
              <a:rPr lang="en-US" dirty="0" err="1"/>
              <a:t>системийн</a:t>
            </a:r>
            <a:r>
              <a:rPr lang="en-US" dirty="0"/>
              <a:t> </a:t>
            </a:r>
            <a:r>
              <a:rPr lang="en-US" dirty="0" err="1"/>
              <a:t>демо</a:t>
            </a:r>
            <a:r>
              <a:rPr lang="en-US" dirty="0"/>
              <a:t> </a:t>
            </a:r>
            <a:r>
              <a:rPr lang="en-US" dirty="0" err="1"/>
              <a:t>танилцуулгыг</a:t>
            </a:r>
            <a:r>
              <a:rPr lang="en-US" dirty="0"/>
              <a:t> </a:t>
            </a:r>
            <a:r>
              <a:rPr lang="en-US" dirty="0" err="1"/>
              <a:t>үзүүлье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375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API endpoint </a:t>
            </a:r>
            <a:r>
              <a:rPr lang="en-US" dirty="0" err="1"/>
              <a:t>дээр</a:t>
            </a:r>
            <a:r>
              <a:rPr lang="en-US" dirty="0"/>
              <a:t> </a:t>
            </a:r>
            <a:r>
              <a:rPr lang="en-US" dirty="0" err="1"/>
              <a:t>туршилт</a:t>
            </a:r>
            <a:r>
              <a:rPr lang="en-US" dirty="0"/>
              <a:t> </a:t>
            </a:r>
            <a:r>
              <a:rPr lang="en-US" dirty="0" err="1"/>
              <a:t>хийж</a:t>
            </a:r>
            <a:r>
              <a:rPr lang="en-US" dirty="0"/>
              <a:t> </a:t>
            </a:r>
            <a:r>
              <a:rPr lang="en-US" dirty="0" err="1"/>
              <a:t>бүгд</a:t>
            </a:r>
            <a:r>
              <a:rPr lang="en-US" dirty="0"/>
              <a:t> </a:t>
            </a:r>
            <a:r>
              <a:rPr lang="en-US" dirty="0" err="1"/>
              <a:t>амжилттай</a:t>
            </a:r>
            <a:r>
              <a:rPr lang="en-US" dirty="0"/>
              <a:t> </a:t>
            </a:r>
            <a:r>
              <a:rPr lang="en-US" dirty="0" err="1"/>
              <a:t>ажилласан</a:t>
            </a:r>
            <a:r>
              <a:rPr lang="en-US" dirty="0"/>
              <a:t>.</a:t>
            </a:r>
          </a:p>
          <a:p>
            <a:r>
              <a:rPr lang="en-US" dirty="0" err="1"/>
              <a:t>Гүйцэтгэлийн</a:t>
            </a:r>
            <a:r>
              <a:rPr lang="en-US" dirty="0"/>
              <a:t> </a:t>
            </a:r>
            <a:r>
              <a:rPr lang="en-US" dirty="0" err="1"/>
              <a:t>хэмжилтээр</a:t>
            </a:r>
            <a:r>
              <a:rPr lang="en-US" dirty="0"/>
              <a:t> API-</a:t>
            </a:r>
            <a:r>
              <a:rPr lang="en-US" dirty="0" err="1"/>
              <a:t>ийн</a:t>
            </a:r>
            <a:r>
              <a:rPr lang="en-US" dirty="0"/>
              <a:t> P95 latency 400 </a:t>
            </a:r>
            <a:r>
              <a:rPr lang="en-US" dirty="0" err="1"/>
              <a:t>миллисекундээс</a:t>
            </a:r>
            <a:r>
              <a:rPr lang="en-US" dirty="0"/>
              <a:t> </a:t>
            </a:r>
            <a:r>
              <a:rPr lang="en-US" dirty="0" err="1"/>
              <a:t>бага</a:t>
            </a:r>
            <a:r>
              <a:rPr lang="en-US" dirty="0"/>
              <a:t>, </a:t>
            </a:r>
            <a:r>
              <a:rPr lang="en-US" dirty="0" err="1"/>
              <a:t>харин</a:t>
            </a:r>
            <a:r>
              <a:rPr lang="en-US" dirty="0"/>
              <a:t> </a:t>
            </a:r>
            <a:r>
              <a:rPr lang="en-US" dirty="0" err="1"/>
              <a:t>бодит</a:t>
            </a:r>
            <a:r>
              <a:rPr lang="en-US" dirty="0"/>
              <a:t> </a:t>
            </a:r>
            <a:r>
              <a:rPr lang="en-US" dirty="0" err="1"/>
              <a:t>цагийн</a:t>
            </a:r>
            <a:r>
              <a:rPr lang="en-US" dirty="0"/>
              <a:t> bid update </a:t>
            </a:r>
            <a:r>
              <a:rPr lang="en-US" dirty="0" err="1"/>
              <a:t>нэг</a:t>
            </a:r>
            <a:r>
              <a:rPr lang="en-US" dirty="0"/>
              <a:t> </a:t>
            </a:r>
            <a:r>
              <a:rPr lang="en-US" dirty="0" err="1"/>
              <a:t>секундээс</a:t>
            </a:r>
            <a:r>
              <a:rPr lang="en-US" dirty="0"/>
              <a:t> </a:t>
            </a:r>
            <a:r>
              <a:rPr lang="en-US" dirty="0" err="1"/>
              <a:t>бага</a:t>
            </a:r>
            <a:r>
              <a:rPr lang="en-US" dirty="0"/>
              <a:t> </a:t>
            </a:r>
            <a:r>
              <a:rPr lang="en-US" dirty="0" err="1"/>
              <a:t>хугацаанд</a:t>
            </a:r>
            <a:r>
              <a:rPr lang="en-US" dirty="0"/>
              <a:t> </a:t>
            </a:r>
            <a:r>
              <a:rPr lang="en-US" dirty="0" err="1"/>
              <a:t>шинэчлэгдсэн</a:t>
            </a:r>
            <a:r>
              <a:rPr lang="en-US" dirty="0"/>
              <a:t>.</a:t>
            </a:r>
          </a:p>
          <a:p>
            <a:r>
              <a:rPr lang="en-US" dirty="0" err="1"/>
              <a:t>Мөн</a:t>
            </a:r>
            <a:r>
              <a:rPr lang="en-US" dirty="0"/>
              <a:t> backend </a:t>
            </a:r>
            <a:r>
              <a:rPr lang="en-US" dirty="0" err="1"/>
              <a:t>кодын</a:t>
            </a:r>
            <a:r>
              <a:rPr lang="en-US" dirty="0"/>
              <a:t> </a:t>
            </a:r>
            <a:r>
              <a:rPr lang="en-US" dirty="0" err="1"/>
              <a:t>хамрах</a:t>
            </a:r>
            <a:r>
              <a:rPr lang="en-US" dirty="0"/>
              <a:t> </a:t>
            </a:r>
            <a:r>
              <a:rPr lang="en-US" dirty="0" err="1"/>
              <a:t>хүрээ</a:t>
            </a:r>
            <a:r>
              <a:rPr lang="en-US" dirty="0"/>
              <a:t> 65 </a:t>
            </a:r>
            <a:r>
              <a:rPr lang="en-US" dirty="0" err="1"/>
              <a:t>хувь</a:t>
            </a:r>
            <a:r>
              <a:rPr lang="en-US" dirty="0"/>
              <a:t>, controller </a:t>
            </a:r>
            <a:r>
              <a:rPr lang="en-US" dirty="0" err="1"/>
              <a:t>түвшний</a:t>
            </a:r>
            <a:r>
              <a:rPr lang="en-US" dirty="0"/>
              <a:t> </a:t>
            </a:r>
            <a:r>
              <a:rPr lang="en-US" dirty="0" err="1"/>
              <a:t>хамрах</a:t>
            </a:r>
            <a:r>
              <a:rPr lang="en-US" dirty="0"/>
              <a:t> </a:t>
            </a:r>
            <a:r>
              <a:rPr lang="en-US" dirty="0" err="1"/>
              <a:t>хүрээ</a:t>
            </a:r>
            <a:r>
              <a:rPr lang="en-US" dirty="0"/>
              <a:t> 80 </a:t>
            </a:r>
            <a:r>
              <a:rPr lang="en-US" dirty="0" err="1"/>
              <a:t>хувиас</a:t>
            </a:r>
            <a:r>
              <a:rPr lang="en-US" dirty="0"/>
              <a:t> </a:t>
            </a:r>
            <a:r>
              <a:rPr lang="en-US" dirty="0" err="1"/>
              <a:t>дээш</a:t>
            </a:r>
            <a:r>
              <a:rPr lang="en-US" dirty="0"/>
              <a:t>, </a:t>
            </a:r>
            <a:r>
              <a:rPr lang="en-US" dirty="0" err="1"/>
              <a:t>нийт</a:t>
            </a:r>
            <a:r>
              <a:rPr lang="en-US" dirty="0"/>
              <a:t> 18 integration </a:t>
            </a:r>
            <a:r>
              <a:rPr lang="en-US" dirty="0" err="1"/>
              <a:t>тест</a:t>
            </a:r>
            <a:r>
              <a:rPr lang="en-US" dirty="0"/>
              <a:t> </a:t>
            </a:r>
            <a:r>
              <a:rPr lang="en-US" dirty="0" err="1"/>
              <a:t>амжилттай</a:t>
            </a:r>
            <a:r>
              <a:rPr lang="en-US" dirty="0"/>
              <a:t> </a:t>
            </a:r>
            <a:r>
              <a:rPr lang="en-US" dirty="0" err="1"/>
              <a:t>болсон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94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Аюулгүй</a:t>
            </a:r>
            <a:r>
              <a:rPr lang="en-US" dirty="0"/>
              <a:t> </a:t>
            </a:r>
            <a:r>
              <a:rPr lang="en-US" dirty="0" err="1"/>
              <a:t>байдлын</a:t>
            </a:r>
            <a:r>
              <a:rPr lang="en-US" dirty="0"/>
              <a:t> </a:t>
            </a:r>
            <a:r>
              <a:rPr lang="en-US" dirty="0" err="1"/>
              <a:t>хувьд</a:t>
            </a:r>
            <a:r>
              <a:rPr lang="en-US" dirty="0"/>
              <a:t> OWASP Top 10 </a:t>
            </a:r>
            <a:r>
              <a:rPr lang="en-US" dirty="0" err="1"/>
              <a:t>зөвлөмжүүдийг</a:t>
            </a:r>
            <a:r>
              <a:rPr lang="en-US" dirty="0"/>
              <a:t> </a:t>
            </a:r>
            <a:r>
              <a:rPr lang="en-US" dirty="0" err="1"/>
              <a:t>харгалзан</a:t>
            </a:r>
            <a:r>
              <a:rPr lang="en-US" dirty="0"/>
              <a:t> </a:t>
            </a:r>
            <a:r>
              <a:rPr lang="en-US" dirty="0" err="1"/>
              <a:t>хэрэгжүүлэлт</a:t>
            </a:r>
            <a:r>
              <a:rPr lang="en-US" dirty="0"/>
              <a:t> </a:t>
            </a:r>
            <a:r>
              <a:rPr lang="en-US" dirty="0" err="1"/>
              <a:t>хийсэн</a:t>
            </a:r>
            <a:r>
              <a:rPr lang="en-US" dirty="0"/>
              <a:t>.</a:t>
            </a:r>
          </a:p>
          <a:p>
            <a:r>
              <a:rPr lang="en-US" dirty="0" err="1"/>
              <a:t>Хандалтын</a:t>
            </a:r>
            <a:r>
              <a:rPr lang="en-US" dirty="0"/>
              <a:t> </a:t>
            </a:r>
            <a:r>
              <a:rPr lang="en-US" dirty="0" err="1"/>
              <a:t>хяналтад</a:t>
            </a:r>
            <a:r>
              <a:rPr lang="en-US" dirty="0"/>
              <a:t> role-based authorization, </a:t>
            </a:r>
            <a:r>
              <a:rPr lang="en-US" dirty="0" err="1"/>
              <a:t>нууц</a:t>
            </a:r>
            <a:r>
              <a:rPr lang="en-US" dirty="0"/>
              <a:t> </a:t>
            </a:r>
            <a:r>
              <a:rPr lang="en-US" dirty="0" err="1"/>
              <a:t>үгийн</a:t>
            </a:r>
            <a:r>
              <a:rPr lang="en-US" dirty="0"/>
              <a:t> </a:t>
            </a:r>
            <a:r>
              <a:rPr lang="en-US" dirty="0" err="1"/>
              <a:t>хамгаалалтад</a:t>
            </a:r>
            <a:r>
              <a:rPr lang="en-US" dirty="0"/>
              <a:t> </a:t>
            </a:r>
            <a:r>
              <a:rPr lang="en-US" dirty="0" err="1"/>
              <a:t>bcrypt</a:t>
            </a:r>
            <a:r>
              <a:rPr lang="en-US" dirty="0"/>
              <a:t> hashing, injection </a:t>
            </a:r>
            <a:r>
              <a:rPr lang="en-US" dirty="0" err="1"/>
              <a:t>халдлагаас</a:t>
            </a:r>
            <a:r>
              <a:rPr lang="en-US" dirty="0"/>
              <a:t> </a:t>
            </a:r>
            <a:r>
              <a:rPr lang="en-US" dirty="0" err="1"/>
              <a:t>хамгаалахад</a:t>
            </a:r>
            <a:r>
              <a:rPr lang="en-US" dirty="0"/>
              <a:t> input validation </a:t>
            </a:r>
            <a:r>
              <a:rPr lang="en-US" dirty="0" err="1"/>
              <a:t>болон</a:t>
            </a:r>
            <a:r>
              <a:rPr lang="en-US" dirty="0"/>
              <a:t> Mongoose strict mode </a:t>
            </a:r>
            <a:r>
              <a:rPr lang="en-US" dirty="0" err="1"/>
              <a:t>ашигласан</a:t>
            </a:r>
            <a:r>
              <a:rPr lang="en-US" dirty="0"/>
              <a:t>.</a:t>
            </a:r>
          </a:p>
          <a:p>
            <a:r>
              <a:rPr lang="en-US" dirty="0" err="1"/>
              <a:t>Мөн</a:t>
            </a:r>
            <a:r>
              <a:rPr lang="en-US" dirty="0"/>
              <a:t> Helmet, Rate Limiting, </a:t>
            </a:r>
            <a:r>
              <a:rPr lang="en-US" dirty="0" err="1"/>
              <a:t>төвлөрсөн</a:t>
            </a:r>
            <a:r>
              <a:rPr lang="en-US" dirty="0"/>
              <a:t> </a:t>
            </a:r>
            <a:r>
              <a:rPr lang="en-US" dirty="0" err="1"/>
              <a:t>лог</a:t>
            </a:r>
            <a:r>
              <a:rPr lang="en-US" dirty="0"/>
              <a:t> </a:t>
            </a:r>
            <a:r>
              <a:rPr lang="en-US" dirty="0" err="1"/>
              <a:t>бүртгэл</a:t>
            </a:r>
            <a:r>
              <a:rPr lang="en-US" dirty="0"/>
              <a:t> </a:t>
            </a:r>
            <a:r>
              <a:rPr lang="en-US" dirty="0" err="1"/>
              <a:t>зэрэг</a:t>
            </a:r>
            <a:r>
              <a:rPr lang="en-US" dirty="0"/>
              <a:t> </a:t>
            </a:r>
            <a:r>
              <a:rPr lang="en-US" dirty="0" err="1"/>
              <a:t>хамгаалалтын</a:t>
            </a:r>
            <a:r>
              <a:rPr lang="en-US" dirty="0"/>
              <a:t> </a:t>
            </a:r>
            <a:r>
              <a:rPr lang="en-US" dirty="0" err="1"/>
              <a:t>механизмуудыг</a:t>
            </a:r>
            <a:r>
              <a:rPr lang="en-US" dirty="0"/>
              <a:t> </a:t>
            </a:r>
            <a:r>
              <a:rPr lang="en-US" dirty="0" err="1"/>
              <a:t>хэрэгжүүлсэн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14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Анх</a:t>
            </a:r>
            <a:r>
              <a:rPr lang="en-US" dirty="0"/>
              <a:t> </a:t>
            </a:r>
            <a:r>
              <a:rPr lang="en-US" dirty="0" err="1"/>
              <a:t>дэвшүүлсэн</a:t>
            </a:r>
            <a:r>
              <a:rPr lang="en-US" dirty="0"/>
              <a:t> </a:t>
            </a:r>
            <a:r>
              <a:rPr lang="en-US" dirty="0" err="1"/>
              <a:t>бүх</a:t>
            </a:r>
            <a:r>
              <a:rPr lang="en-US" dirty="0"/>
              <a:t> </a:t>
            </a:r>
            <a:r>
              <a:rPr lang="en-US" dirty="0" err="1"/>
              <a:t>зорилтууд</a:t>
            </a:r>
            <a:r>
              <a:rPr lang="en-US" dirty="0"/>
              <a:t> </a:t>
            </a:r>
            <a:r>
              <a:rPr lang="en-US" dirty="0" err="1"/>
              <a:t>бүрэн</a:t>
            </a:r>
            <a:r>
              <a:rPr lang="en-US" dirty="0"/>
              <a:t> </a:t>
            </a:r>
            <a:r>
              <a:rPr lang="en-US" dirty="0" err="1"/>
              <a:t>хэрэгжсэн</a:t>
            </a:r>
            <a:r>
              <a:rPr lang="en-US" dirty="0"/>
              <a:t>.</a:t>
            </a:r>
          </a:p>
          <a:p>
            <a:r>
              <a:rPr lang="en-US" dirty="0" err="1"/>
              <a:t>Үүнд</a:t>
            </a:r>
            <a:r>
              <a:rPr lang="en-US" dirty="0"/>
              <a:t> </a:t>
            </a:r>
            <a:r>
              <a:rPr lang="en-US" dirty="0" err="1"/>
              <a:t>бодит</a:t>
            </a:r>
            <a:r>
              <a:rPr lang="en-US" dirty="0"/>
              <a:t> </a:t>
            </a:r>
            <a:r>
              <a:rPr lang="en-US" dirty="0" err="1"/>
              <a:t>цагийн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</a:t>
            </a:r>
            <a:r>
              <a:rPr lang="en-US" dirty="0"/>
              <a:t>, </a:t>
            </a:r>
            <a:r>
              <a:rPr lang="en-US" dirty="0" err="1"/>
              <a:t>QPay</a:t>
            </a:r>
            <a:r>
              <a:rPr lang="en-US" dirty="0"/>
              <a:t> </a:t>
            </a:r>
            <a:r>
              <a:rPr lang="en-US" dirty="0" err="1"/>
              <a:t>интеграц</a:t>
            </a:r>
            <a:r>
              <a:rPr lang="en-US" dirty="0"/>
              <a:t>, Google OAuth, </a:t>
            </a:r>
            <a:r>
              <a:rPr lang="en-US" dirty="0" err="1"/>
              <a:t>автомат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, MongoDB Atlas </a:t>
            </a:r>
            <a:r>
              <a:rPr lang="en-US" dirty="0" err="1"/>
              <a:t>өгөгдлийн</a:t>
            </a:r>
            <a:r>
              <a:rPr lang="en-US" dirty="0"/>
              <a:t> </a:t>
            </a:r>
            <a:r>
              <a:rPr lang="en-US" dirty="0" err="1"/>
              <a:t>сан</a:t>
            </a:r>
            <a:r>
              <a:rPr lang="en-US" dirty="0"/>
              <a:t>, </a:t>
            </a:r>
            <a:r>
              <a:rPr lang="en-US" dirty="0" err="1"/>
              <a:t>аюулгүй</a:t>
            </a:r>
            <a:r>
              <a:rPr lang="en-US" dirty="0"/>
              <a:t> </a:t>
            </a:r>
            <a:r>
              <a:rPr lang="en-US" dirty="0" err="1"/>
              <a:t>байдлын</a:t>
            </a:r>
            <a:r>
              <a:rPr lang="en-US" dirty="0"/>
              <a:t> </a:t>
            </a:r>
            <a:r>
              <a:rPr lang="en-US" dirty="0" err="1"/>
              <a:t>шийдлүүд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иж</a:t>
            </a:r>
            <a:r>
              <a:rPr lang="en-US" dirty="0"/>
              <a:t> </a:t>
            </a:r>
            <a:r>
              <a:rPr lang="en-US" dirty="0" err="1"/>
              <a:t>бүрэн</a:t>
            </a:r>
            <a:r>
              <a:rPr lang="en-US" dirty="0"/>
              <a:t> </a:t>
            </a:r>
            <a:r>
              <a:rPr lang="en-US" dirty="0" err="1"/>
              <a:t>тестүүд</a:t>
            </a:r>
            <a:r>
              <a:rPr lang="en-US" dirty="0"/>
              <a:t> </a:t>
            </a:r>
            <a:r>
              <a:rPr lang="en-US" dirty="0" err="1"/>
              <a:t>багтаж</a:t>
            </a:r>
            <a:r>
              <a:rPr lang="en-US" dirty="0"/>
              <a:t> </a:t>
            </a:r>
            <a:r>
              <a:rPr lang="en-US" dirty="0" err="1"/>
              <a:t>байна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9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Дүгнэж</a:t>
            </a:r>
            <a:r>
              <a:rPr lang="en-US" dirty="0"/>
              <a:t> </a:t>
            </a:r>
            <a:r>
              <a:rPr lang="en-US" dirty="0" err="1"/>
              <a:t>хэлбэл</a:t>
            </a:r>
            <a:r>
              <a:rPr lang="en-US" dirty="0"/>
              <a:t> </a:t>
            </a:r>
            <a:r>
              <a:rPr lang="en-US" dirty="0" err="1"/>
              <a:t>Монголын</a:t>
            </a:r>
            <a:r>
              <a:rPr lang="en-US" dirty="0"/>
              <a:t> </a:t>
            </a:r>
            <a:r>
              <a:rPr lang="en-US" dirty="0" err="1"/>
              <a:t>зах</a:t>
            </a:r>
            <a:r>
              <a:rPr lang="en-US" dirty="0"/>
              <a:t> </a:t>
            </a:r>
            <a:r>
              <a:rPr lang="en-US" dirty="0" err="1"/>
              <a:t>зээлийн</a:t>
            </a:r>
            <a:r>
              <a:rPr lang="en-US" dirty="0"/>
              <a:t> </a:t>
            </a:r>
            <a:r>
              <a:rPr lang="en-US" dirty="0" err="1"/>
              <a:t>хэрэгцээнд</a:t>
            </a:r>
            <a:r>
              <a:rPr lang="en-US" dirty="0"/>
              <a:t> </a:t>
            </a:r>
            <a:r>
              <a:rPr lang="en-US" dirty="0" err="1"/>
              <a:t>нийцсэн</a:t>
            </a:r>
            <a:r>
              <a:rPr lang="en-US" dirty="0"/>
              <a:t> </a:t>
            </a:r>
            <a:r>
              <a:rPr lang="en-US" dirty="0" err="1"/>
              <a:t>бодит</a:t>
            </a:r>
            <a:r>
              <a:rPr lang="en-US" dirty="0"/>
              <a:t> </a:t>
            </a:r>
            <a:r>
              <a:rPr lang="en-US" dirty="0" err="1"/>
              <a:t>цагийн</a:t>
            </a:r>
            <a:r>
              <a:rPr lang="en-US" dirty="0"/>
              <a:t> </a:t>
            </a:r>
            <a:r>
              <a:rPr lang="en-US" dirty="0" err="1"/>
              <a:t>онлайн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системийг</a:t>
            </a:r>
            <a:r>
              <a:rPr lang="en-US" dirty="0"/>
              <a:t> </a:t>
            </a:r>
            <a:r>
              <a:rPr lang="en-US" dirty="0" err="1"/>
              <a:t>хөгжүүллээ</a:t>
            </a:r>
            <a:r>
              <a:rPr lang="en-US" dirty="0"/>
              <a:t>.</a:t>
            </a:r>
          </a:p>
          <a:p>
            <a:r>
              <a:rPr lang="en-US" dirty="0" err="1"/>
              <a:t>Энэхүү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нь</a:t>
            </a:r>
            <a:r>
              <a:rPr lang="en-US" dirty="0"/>
              <a:t> Web, iOS </a:t>
            </a:r>
            <a:r>
              <a:rPr lang="en-US" dirty="0" err="1"/>
              <a:t>болон</a:t>
            </a:r>
            <a:r>
              <a:rPr lang="en-US" dirty="0"/>
              <a:t> Android </a:t>
            </a:r>
            <a:r>
              <a:rPr lang="en-US" dirty="0" err="1"/>
              <a:t>платформыг</a:t>
            </a:r>
            <a:r>
              <a:rPr lang="en-US" dirty="0"/>
              <a:t> </a:t>
            </a:r>
            <a:r>
              <a:rPr lang="en-US" dirty="0" err="1"/>
              <a:t>дэмждэг</a:t>
            </a:r>
            <a:r>
              <a:rPr lang="en-US" dirty="0"/>
              <a:t> </a:t>
            </a:r>
            <a:r>
              <a:rPr lang="en-US" dirty="0" err="1"/>
              <a:t>бөгөөд</a:t>
            </a:r>
            <a:r>
              <a:rPr lang="en-US" dirty="0"/>
              <a:t> </a:t>
            </a:r>
            <a:r>
              <a:rPr lang="en-US" dirty="0" err="1"/>
              <a:t>QPay</a:t>
            </a:r>
            <a:r>
              <a:rPr lang="en-US" dirty="0"/>
              <a:t>, Firebase Notification, Watchlist, Review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бодит</a:t>
            </a:r>
            <a:r>
              <a:rPr lang="en-US" dirty="0"/>
              <a:t> </a:t>
            </a:r>
            <a:r>
              <a:rPr lang="en-US" dirty="0" err="1"/>
              <a:t>цагийн</a:t>
            </a:r>
            <a:r>
              <a:rPr lang="en-US" dirty="0"/>
              <a:t> </a:t>
            </a:r>
            <a:r>
              <a:rPr lang="en-US" dirty="0" err="1"/>
              <a:t>дуудлага</a:t>
            </a:r>
            <a:r>
              <a:rPr lang="en-US" dirty="0"/>
              <a:t> </a:t>
            </a:r>
            <a:r>
              <a:rPr lang="en-US" dirty="0" err="1"/>
              <a:t>худалдааны</a:t>
            </a:r>
            <a:r>
              <a:rPr lang="en-US" dirty="0"/>
              <a:t> </a:t>
            </a:r>
            <a:r>
              <a:rPr lang="en-US" dirty="0" err="1"/>
              <a:t>боломжуудыг</a:t>
            </a:r>
            <a:r>
              <a:rPr lang="en-US" dirty="0"/>
              <a:t> </a:t>
            </a:r>
            <a:r>
              <a:rPr lang="en-US" dirty="0" err="1"/>
              <a:t>нэгтгэсэн</a:t>
            </a:r>
            <a:r>
              <a:rPr lang="en-US" dirty="0"/>
              <a:t>.</a:t>
            </a:r>
          </a:p>
          <a:p>
            <a:r>
              <a:rPr lang="en-US" dirty="0" err="1"/>
              <a:t>Цаашид</a:t>
            </a:r>
            <a:r>
              <a:rPr lang="en-US" dirty="0"/>
              <a:t> WebRTC </a:t>
            </a:r>
            <a:r>
              <a:rPr lang="en-US" dirty="0" err="1"/>
              <a:t>шууд</a:t>
            </a:r>
            <a:r>
              <a:rPr lang="en-US" dirty="0"/>
              <a:t> </a:t>
            </a:r>
            <a:r>
              <a:rPr lang="en-US" dirty="0" err="1"/>
              <a:t>дамжуулалт</a:t>
            </a:r>
            <a:r>
              <a:rPr lang="en-US" dirty="0"/>
              <a:t>, Anti-sniping </a:t>
            </a:r>
            <a:r>
              <a:rPr lang="en-US" dirty="0" err="1"/>
              <a:t>механизм</a:t>
            </a:r>
            <a:r>
              <a:rPr lang="en-US" dirty="0"/>
              <a:t>, AI </a:t>
            </a:r>
            <a:r>
              <a:rPr lang="en-US" dirty="0" err="1"/>
              <a:t>туслах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production </a:t>
            </a:r>
            <a:r>
              <a:rPr lang="en-US" dirty="0" err="1"/>
              <a:t>орчин</a:t>
            </a:r>
            <a:r>
              <a:rPr lang="en-US" dirty="0"/>
              <a:t> </a:t>
            </a:r>
            <a:r>
              <a:rPr lang="en-US" dirty="0" err="1"/>
              <a:t>дахь</a:t>
            </a:r>
            <a:r>
              <a:rPr lang="en-US" dirty="0"/>
              <a:t> </a:t>
            </a:r>
            <a:r>
              <a:rPr lang="en-US" dirty="0" err="1"/>
              <a:t>QPay</a:t>
            </a:r>
            <a:r>
              <a:rPr lang="en-US" dirty="0"/>
              <a:t> </a:t>
            </a:r>
            <a:r>
              <a:rPr lang="en-US" dirty="0" err="1"/>
              <a:t>интеграцыг</a:t>
            </a:r>
            <a:r>
              <a:rPr lang="en-US" dirty="0"/>
              <a:t> </a:t>
            </a:r>
            <a:r>
              <a:rPr lang="en-US" dirty="0" err="1"/>
              <a:t>хөгжүүлэхээр</a:t>
            </a:r>
            <a:r>
              <a:rPr lang="en-US" dirty="0"/>
              <a:t> </a:t>
            </a:r>
            <a:r>
              <a:rPr lang="en-US" dirty="0" err="1"/>
              <a:t>төлөвлөж</a:t>
            </a:r>
            <a:r>
              <a:rPr lang="en-US" dirty="0"/>
              <a:t> </a:t>
            </a:r>
            <a:r>
              <a:rPr lang="en-US" dirty="0" err="1"/>
              <a:t>байна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9696EC-5411-4B7A-A3FA-F6FE9BC255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57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video" Target="https://www.youtube.com/embed/Eqoj5ujqXXU?feature=oembed" TargetMode="External"/><Relationship Id="rId7" Type="http://schemas.openxmlformats.org/officeDocument/2006/relationships/image" Target="../media/image2.jpeg"/><Relationship Id="rId2" Type="http://schemas.openxmlformats.org/officeDocument/2006/relationships/video" Target="https://www.youtube.com/embed/e_qf7gPfZTI?feature=oembed" TargetMode="Externa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dirty="0" err="1">
                <a:solidFill>
                  <a:srgbClr val="FFFFFF"/>
                </a:solidFill>
              </a:rPr>
              <a:t>Онлайн</a:t>
            </a:r>
            <a:r>
              <a:rPr sz="3800" b="1" dirty="0">
                <a:solidFill>
                  <a:srgbClr val="FFFFFF"/>
                </a:solidFill>
              </a:rPr>
              <a:t> </a:t>
            </a:r>
            <a:r>
              <a:rPr sz="3800" b="1" dirty="0" err="1">
                <a:solidFill>
                  <a:srgbClr val="FFFFFF"/>
                </a:solidFill>
              </a:rPr>
              <a:t>дуудлага</a:t>
            </a:r>
            <a:r>
              <a:rPr sz="3800" b="1" dirty="0">
                <a:solidFill>
                  <a:srgbClr val="FFFFFF"/>
                </a:solidFill>
              </a:rPr>
              <a:t> </a:t>
            </a:r>
            <a:r>
              <a:rPr sz="3800" b="1" dirty="0" err="1">
                <a:solidFill>
                  <a:srgbClr val="FFFFFF"/>
                </a:solidFill>
              </a:rPr>
              <a:t>худалдааны</a:t>
            </a:r>
            <a:r>
              <a:rPr sz="3800" b="1" dirty="0">
                <a:solidFill>
                  <a:srgbClr val="FFFFFF"/>
                </a:solidFill>
              </a:rPr>
              <a:t>
</a:t>
            </a:r>
            <a:r>
              <a:rPr lang="mn-MN" sz="3800" b="1" dirty="0">
                <a:solidFill>
                  <a:srgbClr val="FFFFFF"/>
                </a:solidFill>
              </a:rPr>
              <a:t>систем</a:t>
            </a:r>
            <a:endParaRPr sz="38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566160"/>
            <a:ext cx="329184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54787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Бакалаврын дипломын ажил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Илтгэгч: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114800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Т.Бөхбилэгт  (Түвшинзаяа Бөхбилэгт)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9884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Удирдагч: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498848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Доктор (Ph.D), П.Энхтайван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8289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Мэргэжил: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882896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Мэдээллийн технологи  ·  D061304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6694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06B6D4"/>
                </a:solidFill>
              </a:rPr>
              <a:t>Тэнхим</a:t>
            </a:r>
            <a:r>
              <a:rPr sz="1300" b="1" dirty="0">
                <a:solidFill>
                  <a:srgbClr val="06B6D4"/>
                </a:solidFill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5266944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Мэдээллийн технологийн тэнхим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5099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Хамгаалах он: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650992"/>
            <a:ext cx="6400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Улаанбаатар хот, 2026 он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629400"/>
            <a:ext cx="11274552" cy="190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АГУУЛГА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188720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Судалгааны зорилго ба ач холбогдол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38528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93852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Онолын үндэслэл ба харьцуулсан судалгаа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88336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688336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688336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Системийн архитектур ба технологи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38144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38144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43814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Хэрэгжүүлэлт — Backend, Веб, Мобайл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188720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Өгөгдлийн загвар (ERD)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38528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938528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193852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Туршилт ба үр дүн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688336"/>
            <a:ext cx="566928" cy="5120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688336"/>
            <a:ext cx="5669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688336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Дүгнэлт ба цаашдын чиглэл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8284" y="209427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СУДАЛГААНЫ ЗОРИЛГО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394960" cy="2286000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Асуудал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94A3B8"/>
                </a:solidFill>
              </a:rPr>
              <a:t>• </a:t>
            </a:r>
            <a:r>
              <a:rPr sz="1200" b="0" dirty="0" err="1">
                <a:solidFill>
                  <a:srgbClr val="94A3B8"/>
                </a:solidFill>
              </a:rPr>
              <a:t>Монголд</a:t>
            </a:r>
            <a:r>
              <a:rPr sz="1200" b="0" dirty="0">
                <a:solidFill>
                  <a:srgbClr val="94A3B8"/>
                </a:solidFill>
              </a:rPr>
              <a:t> </a:t>
            </a:r>
            <a:r>
              <a:rPr sz="1200" b="0" dirty="0" err="1">
                <a:solidFill>
                  <a:srgbClr val="94A3B8"/>
                </a:solidFill>
              </a:rPr>
              <a:t>бодит</a:t>
            </a:r>
            <a:r>
              <a:rPr sz="1200" b="0" dirty="0">
                <a:solidFill>
                  <a:srgbClr val="94A3B8"/>
                </a:solidFill>
              </a:rPr>
              <a:t> </a:t>
            </a:r>
            <a:r>
              <a:rPr sz="1200" b="0" dirty="0" err="1">
                <a:solidFill>
                  <a:srgbClr val="94A3B8"/>
                </a:solidFill>
              </a:rPr>
              <a:t>цагийн</a:t>
            </a:r>
            <a:r>
              <a:rPr sz="1200" b="0" dirty="0">
                <a:solidFill>
                  <a:srgbClr val="94A3B8"/>
                </a:solidFill>
              </a:rPr>
              <a:t> </a:t>
            </a:r>
            <a:r>
              <a:rPr sz="1200" b="0" dirty="0" err="1">
                <a:solidFill>
                  <a:srgbClr val="94A3B8"/>
                </a:solidFill>
              </a:rPr>
              <a:t>дуудлага</a:t>
            </a:r>
            <a:r>
              <a:rPr sz="1200" b="0" dirty="0">
                <a:solidFill>
                  <a:srgbClr val="94A3B8"/>
                </a:solidFill>
              </a:rPr>
              <a:t> </a:t>
            </a:r>
            <a:r>
              <a:rPr sz="1200" b="0" dirty="0" err="1">
                <a:solidFill>
                  <a:srgbClr val="94A3B8"/>
                </a:solidFill>
              </a:rPr>
              <a:t>худалдааны</a:t>
            </a:r>
            <a:r>
              <a:rPr sz="1200" b="0" dirty="0">
                <a:solidFill>
                  <a:srgbClr val="94A3B8"/>
                </a:solidFill>
              </a:rPr>
              <a:t> </a:t>
            </a:r>
            <a:r>
              <a:rPr sz="1200" b="0" dirty="0" err="1">
                <a:solidFill>
                  <a:srgbClr val="94A3B8"/>
                </a:solidFill>
              </a:rPr>
              <a:t>систем</a:t>
            </a:r>
            <a:r>
              <a:rPr sz="1200" b="0" dirty="0">
                <a:solidFill>
                  <a:srgbClr val="94A3B8"/>
                </a:solidFill>
              </a:rPr>
              <a:t> </a:t>
            </a:r>
            <a:r>
              <a:rPr sz="1200" b="0" dirty="0" err="1">
                <a:solidFill>
                  <a:srgbClr val="94A3B8"/>
                </a:solidFill>
              </a:rPr>
              <a:t>байхгүй</a:t>
            </a:r>
            <a:endParaRPr sz="1200" b="0" dirty="0">
              <a:solidFill>
                <a:srgbClr val="94A3B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19110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Одоогийн платформ (Unegui, Shoppy) зөвхөн тогтмол үнийн загвартай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49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Мобайл хэрэглэгчдэд зориулсан cross-platform шийдэл дутагдалтай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• Үнэ тогтоолт зах зээлийн зарчмаар явагдах боломжгүй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486400" cy="2286000"/>
          </a:xfrm>
          <a:prstGeom prst="rect">
            <a:avLst/>
          </a:prstGeom>
          <a:solidFill>
            <a:srgbClr val="1E294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143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Зорилго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Бодит цагийн (Socket.IO) дуудлага худалдааны систем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110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Web + iOS + Android — нэг кодоор 3 платформ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94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QPay Монгол төлбөрийн систем интеграц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87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✓  Хэрэглэгчийн баталгаажуулалт (Google OAuth, JWT)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11274552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584448"/>
            <a:ext cx="10908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Судалгааны үндсэн асуудал:  Монголын зах зээлд тохирсон, бодит цагийн, олон платформ дээр ажилладаг онлайн дуудлага худалдааны системийг хэрхэн хөгжүүлэх вэ?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Платформ
(Web/iOS/Android)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8892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34+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REST API
Endpoint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064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MongoDB
Collection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5236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Ангилал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4389120"/>
            <a:ext cx="2103120" cy="12801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84080" y="4434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</a:rPr>
              <a:t>12K+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504748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Кодын мөр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481" y="191094"/>
            <a:ext cx="46260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ХАРЬЦУУЛСАН СУДАЛГАА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Дуудлага худалдааны төрлүүд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12064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4533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🔨 Англи (English)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196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Үнэ доороос өсдөг · Манай систем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03704"/>
            <a:ext cx="512064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24028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📉 Голланд (Dutch)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5146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Үнэ дээрээс буурдаг · BuyNow-ээр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98648"/>
            <a:ext cx="512064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93522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🔒 Битэр (Sealed-bid)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095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Нууц санал · Хугацаа дуусахад нээгдэнэ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93592"/>
            <a:ext cx="512064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63016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💡 Виккери (Vickrey)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0448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2-р өндөр үнэ · Google AdWords загвар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51560"/>
            <a:ext cx="173736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89320" y="10698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Шинж чанар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051560"/>
            <a:ext cx="82296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80" y="10698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Yahoo!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051560"/>
            <a:ext cx="82296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10698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Mercari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1051560"/>
            <a:ext cx="64008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10698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eBay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1051560"/>
            <a:ext cx="91440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0698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Манай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1435608"/>
            <a:ext cx="17373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0176" y="1545336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Auction 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80960" y="1435608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17536" y="154533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1435608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0496" y="154533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26880" y="1435608"/>
            <a:ext cx="64008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63456" y="1545336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Multi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1435608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03536" y="1545336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Eng+Buy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2002536"/>
            <a:ext cx="17373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80176" y="2112264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Real-time bid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2002536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17536" y="2112264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2002536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40496" y="2112264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2002536"/>
            <a:ext cx="64008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63456" y="2112264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966960" y="2002536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003536" y="211226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2569464"/>
            <a:ext cx="17373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80176" y="2679192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Mobile parity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80960" y="2569464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17536" y="267919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03920" y="2569464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40496" y="2679192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2569464"/>
            <a:ext cx="64008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63456" y="2679192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66960" y="2569464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003536" y="2679192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✓✓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3136392"/>
            <a:ext cx="17373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80176" y="3246120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Автомат дуудлага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3136392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17536" y="3246120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3136392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40496" y="3246120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26880" y="3136392"/>
            <a:ext cx="64008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63456" y="3246120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966960" y="3136392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003536" y="3246120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3703320"/>
            <a:ext cx="17373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80176" y="3813048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Дотоод төлбөр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0960" y="3703320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717536" y="3813048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Y.Wallet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03920" y="3703320"/>
            <a:ext cx="82296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40496" y="3813048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M.Pay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26880" y="3703320"/>
            <a:ext cx="640080" cy="530352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363456" y="3813048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PayPal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966960" y="3703320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003536" y="3813048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QPay 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43600" y="4270248"/>
            <a:ext cx="17373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80176" y="4379976"/>
            <a:ext cx="16642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Монгол хэл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80960" y="4270248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17536" y="437997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03920" y="4270248"/>
            <a:ext cx="82296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540496" y="4379976"/>
            <a:ext cx="7498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6880" y="4270248"/>
            <a:ext cx="640080" cy="53035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363456" y="4379976"/>
            <a:ext cx="566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F4444"/>
                </a:solidFill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66960" y="4270248"/>
            <a:ext cx="914400" cy="530352"/>
          </a:xfrm>
          <a:prstGeom prst="rect">
            <a:avLst/>
          </a:prstGeom>
          <a:solidFill>
            <a:srgbClr val="1A1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003536" y="4379976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6215"/>
            <a:ext cx="4468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СИСТЕМИЙН АРХИТЕКТУР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77724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2070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</a:rPr>
              <a:t>CLIENT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FFFFFF"/>
                </a:solidFill>
              </a:rPr>
              <a:t>React.js + Vite  ·  React Native + Expo SDK 54  ·  Expo Router v6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591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⬇  REST / WebSocket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97480"/>
            <a:ext cx="7772400" cy="1234440"/>
          </a:xfrm>
          <a:prstGeom prst="rect">
            <a:avLst/>
          </a:prstGeom>
          <a:solidFill>
            <a:srgbClr val="14241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APPLICATION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27832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Node.js + Express.js  ·  Socket.IO  ·  JWT  ·  Cron Jobs  ·  Firebase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⬇  REST / WebSocket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7772400" cy="1234440"/>
          </a:xfrm>
          <a:prstGeom prst="rect">
            <a:avLst/>
          </a:prstGeom>
          <a:solidFill>
            <a:srgbClr val="241A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40740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28032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MongoDB Atlas (11 collection)  ·  Cloudinary CDN  ·  QPay  ·  Firebase FCM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097280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114300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Node.js v20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1517904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0" y="15636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Express.js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938528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19842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MongoDB Atlas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359152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24048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Socket.IO v4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779776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0" y="2825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React.js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200400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2461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Vite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3621024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0" y="366674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Tailwind CSS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4041648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0" y="408736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React Native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462272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45079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Expo SDK 54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4882896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03920" y="492861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Firebase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5303520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53492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Cloudinary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5724144"/>
            <a:ext cx="3474720" cy="34747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03920" y="57698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QPay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16458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BACKEND </a:t>
            </a:r>
            <a:r>
              <a:rPr lang="mn-MN" sz="2800" b="1" dirty="0">
                <a:solidFill>
                  <a:srgbClr val="FFFFFF"/>
                </a:solidFill>
              </a:rPr>
              <a:t>Х</a:t>
            </a:r>
            <a:r>
              <a:rPr sz="2800" b="1" dirty="0">
                <a:solidFill>
                  <a:srgbClr val="FFFFFF"/>
                </a:solidFill>
              </a:rPr>
              <a:t>ӨГЖҮҮЛЭЛТ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24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User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904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Бүртгэл, нэвтрэлт, Google OAuth, JWT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5156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124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Product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CRUD, зургийн upload (Cloudinary), дэлгэрэнгүй тайлбар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1168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08483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Bidding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505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Atomic transaction, race condition урьдчилан сэргийлэх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1168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08483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Cron 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505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1 минут тутамд дуудлага эхлүүлэх / дуусгах, ялагч тогтоох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30449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Socket.IO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10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bidUpdate, outbid, auctionEnded, notification event-үүд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971800"/>
            <a:ext cx="5486400" cy="841248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04495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QPay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41071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Invoice үүсгэх, QR харуулах, webhook-оор баланс шинэчлэх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776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Үндсэн Socket.IO event-үүд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07408"/>
            <a:ext cx="201168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448056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joinAuction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4407408"/>
            <a:ext cx="16459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69464" y="44805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Client→Server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407408"/>
            <a:ext cx="71323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4480560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Дуудлагын room-д орох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28032"/>
            <a:ext cx="201168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2064" y="490118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placeBid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4828032"/>
            <a:ext cx="16459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69464" y="490118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Client→Server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4828032"/>
            <a:ext cx="71323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61104" y="4901184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Шинэ үнэ санал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48656"/>
            <a:ext cx="201168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2064" y="53218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bidUpdate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14600" y="5248656"/>
            <a:ext cx="16459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69464" y="532180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Server→Room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5248656"/>
            <a:ext cx="71323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61104" y="5321808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Бүх оролцогчид шинэ үнэ зарлах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669280"/>
            <a:ext cx="201168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2064" y="57424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auctionEnded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14600" y="5669280"/>
            <a:ext cx="16459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69464" y="574243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Server→Room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5669280"/>
            <a:ext cx="71323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61104" y="574243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Дуудлага дуусгасан, ялагч зарлах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089904"/>
            <a:ext cx="201168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2064" y="61630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outbid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14600" y="6089904"/>
            <a:ext cx="16459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569464" y="61630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Server→User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6089904"/>
            <a:ext cx="71323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61104" y="6163056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Гүйцсэн мэдэгдэл → push notification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57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ВЕБ БА МОБАЙЛ АППЛИКЕЙШН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39496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698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Веб аппликейшн (React.js + Vite)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🏠  Нүүр хуудас — категориор шүүх, хайлт, auction feed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0253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📦  Бараа нэмэх — 20 зураг upload, ноорог хадгалах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963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🔨  Бараа дэлгэрэнгүй — countdown таймер, bid history, шууд авах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9008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⚙️   Админ самбар — хэрэглэгч, ангилал, гүйлгээ, статистик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8386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👤  Профайл — баланс, QPay цэнэглэлт, зарлагуудын түүх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7764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🌓  Dark/Light горим, i18n (Монгол/Англи)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51560"/>
            <a:ext cx="54864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Мобайл аппликейшн (React Native + Expo)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50876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📱  iOS + Android — нэг кодоор 2 платформ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4767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🔐  Google OAuth нэвтрэлт, JWT баталгаажуулалт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8658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📋  Регистрийн дугаар — Кирилл үсгийн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2549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📸  expo-image-picker — зураг авах/сонгох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6440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⏱   Socket.IO real-time bid update, countdown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💳  QPay QR код — 3 секунд тутам polling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4223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🔔  FCM push notification — outbid, won мэдэгдэл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8114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⭐  Watchlist, Review системүүд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09834"/>
            <a:ext cx="5952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ӨГӨГДЛИЙН САНГИЙН ЗАГВАР (ERD)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2514600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133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name, email, password(bcrypt),
role, balance, trustScore, fcmTokens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251460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6426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99008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user, category, price, currentBid,
auctionStatus, bidDeadline, sellType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09728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1097280"/>
            <a:ext cx="25146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73552" y="1133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parent(self-ref), title, slug,
fieldSchema[]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60604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88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0" y="2606040"/>
            <a:ext cx="2514600" cy="347472"/>
          </a:xfrm>
          <a:prstGeom prst="rect">
            <a:avLst/>
          </a:prstGeom>
          <a:solidFill>
            <a:srgbClr val="88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73552" y="26426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Bidding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299008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user, product, price, createdAt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1480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0" y="4114800"/>
            <a:ext cx="25146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73552" y="415137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Watchlist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449884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user, product, notifyOnStart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09728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00" y="1097280"/>
            <a:ext cx="2514600" cy="34747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6752" y="1133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Transaction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buyer, seller, product, amount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260604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943600" y="2606040"/>
            <a:ext cx="25146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16752" y="264261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16752" y="299008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product, fromUser, toUser, rating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1097280"/>
            <a:ext cx="2514600" cy="1234440"/>
          </a:xfrm>
          <a:prstGeom prst="rect">
            <a:avLst/>
          </a:prstGeom>
          <a:solidFill>
            <a:srgbClr val="1E294C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686800" y="1097280"/>
            <a:ext cx="2514600" cy="347472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59952" y="113385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148132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user, product, type, read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0" y="2606040"/>
            <a:ext cx="3200400" cy="34747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23960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Хамаарлууд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3063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Product (1:N, seller)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3924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Category  →  Product (1:N)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7216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Category  →  Category (self, parent)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0507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Bidding (1:N)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379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Product  →  Bidding (1:N)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709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Watchlist (1:N)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50383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Transaction (1:N)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53675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Product  →  Transaction (1:1)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5696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Review (1:N)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60258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▸ User  →  Notification (1:N)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26240"/>
            <a:ext cx="121889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mn-MN" sz="2800" b="1" dirty="0">
                <a:solidFill>
                  <a:srgbClr val="FFFFFF"/>
                </a:solidFill>
              </a:rPr>
              <a:t>ДЕМО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 err="1">
                <a:solidFill>
                  <a:srgbClr val="06B6D4"/>
                </a:solidFill>
              </a:rPr>
              <a:t>Screenrecord</a:t>
            </a:r>
            <a:endParaRPr sz="1400" b="1" dirty="0">
              <a:solidFill>
                <a:srgbClr val="06B6D4"/>
              </a:solidFill>
            </a:endParaRPr>
          </a:p>
        </p:txBody>
      </p:sp>
      <p:pic>
        <p:nvPicPr>
          <p:cNvPr id="87" name="Online Media 86" title="part1">
            <a:hlinkClick r:id="" action="ppaction://media"/>
            <a:extLst>
              <a:ext uri="{FF2B5EF4-FFF2-40B4-BE49-F238E27FC236}">
                <a16:creationId xmlns:a16="http://schemas.microsoft.com/office/drawing/2014/main" id="{CBDC432B-F4E1-80A9-9955-54765A17AFBD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6"/>
          <a:stretch>
            <a:fillRect/>
          </a:stretch>
        </p:blipFill>
        <p:spPr>
          <a:xfrm>
            <a:off x="2781147" y="487850"/>
            <a:ext cx="3527586" cy="6248123"/>
          </a:xfrm>
          <a:prstGeom prst="rect">
            <a:avLst/>
          </a:prstGeom>
        </p:spPr>
      </p:pic>
      <p:pic>
        <p:nvPicPr>
          <p:cNvPr id="88" name="Online Media 87" title="part2">
            <a:hlinkClick r:id="" action="ppaction://media"/>
            <a:extLst>
              <a:ext uri="{FF2B5EF4-FFF2-40B4-BE49-F238E27FC236}">
                <a16:creationId xmlns:a16="http://schemas.microsoft.com/office/drawing/2014/main" id="{E90F4383-7C53-2219-5321-177522958B2B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7"/>
          <a:stretch>
            <a:fillRect/>
          </a:stretch>
        </p:blipFill>
        <p:spPr>
          <a:xfrm>
            <a:off x="7472017" y="487850"/>
            <a:ext cx="3553651" cy="62942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8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996AE-B2CB-3BC5-F7F2-9EF30003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F3B149-41C2-BFD2-4A4D-9908C369DEB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04B8C6-8F7F-6D51-9530-DDE5CACF9C0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736C8-38DC-76F1-0E4C-A0DE08D9F992}"/>
              </a:ext>
            </a:extLst>
          </p:cNvPr>
          <p:cNvSpPr txBox="1"/>
          <p:nvPr/>
        </p:nvSpPr>
        <p:spPr>
          <a:xfrm>
            <a:off x="457200" y="2262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ТУРШИЛТ БА ҮР ДҮН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771CF-707F-58D0-4A28-B816F47FABF1}"/>
              </a:ext>
            </a:extLst>
          </p:cNvPr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C5EE9-FFBD-5351-9F2E-AEEA6CC72806}"/>
              </a:ext>
            </a:extLst>
          </p:cNvPr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9 / 16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29583A-620C-6BD6-1363-278D710611E3}"/>
              </a:ext>
            </a:extLst>
          </p:cNvPr>
          <p:cNvSpPr txBox="1"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API Туршилт (Insomnia) — 34 endpoint, бүгд тэнцсэн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D1741C-C48B-53A9-B7DB-7891426B6ADE}"/>
              </a:ext>
            </a:extLst>
          </p:cNvPr>
          <p:cNvSpPr/>
          <p:nvPr/>
        </p:nvSpPr>
        <p:spPr>
          <a:xfrm>
            <a:off x="457200" y="1508760"/>
            <a:ext cx="365760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630FD-76F8-5298-2F91-65134D621798}"/>
              </a:ext>
            </a:extLst>
          </p:cNvPr>
          <p:cNvSpPr txBox="1"/>
          <p:nvPr/>
        </p:nvSpPr>
        <p:spPr>
          <a:xfrm>
            <a:off x="512064" y="15819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/api/users/register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5BFC46-40FB-BD8B-C9E0-D3437164FB8A}"/>
              </a:ext>
            </a:extLst>
          </p:cNvPr>
          <p:cNvSpPr/>
          <p:nvPr/>
        </p:nvSpPr>
        <p:spPr>
          <a:xfrm>
            <a:off x="4160520" y="1508760"/>
            <a:ext cx="7315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65F1C6-17B9-AA9E-C0B7-E639F41B68A1}"/>
              </a:ext>
            </a:extLst>
          </p:cNvPr>
          <p:cNvSpPr txBox="1"/>
          <p:nvPr/>
        </p:nvSpPr>
        <p:spPr>
          <a:xfrm>
            <a:off x="4215384" y="15819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DE5328-C9AD-36BC-3425-8F16BBDB9542}"/>
              </a:ext>
            </a:extLst>
          </p:cNvPr>
          <p:cNvSpPr/>
          <p:nvPr/>
        </p:nvSpPr>
        <p:spPr>
          <a:xfrm>
            <a:off x="4937760" y="1508760"/>
            <a:ext cx="694944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2E011F-12FB-39A7-A283-32160B3B3B32}"/>
              </a:ext>
            </a:extLst>
          </p:cNvPr>
          <p:cNvSpPr txBox="1"/>
          <p:nvPr/>
        </p:nvSpPr>
        <p:spPr>
          <a:xfrm>
            <a:off x="4992624" y="158191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Бүртгэл амжилттай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24221E-9A80-BD0A-B814-C2A732AB0AF2}"/>
              </a:ext>
            </a:extLst>
          </p:cNvPr>
          <p:cNvSpPr/>
          <p:nvPr/>
        </p:nvSpPr>
        <p:spPr>
          <a:xfrm>
            <a:off x="457200" y="1929384"/>
            <a:ext cx="365760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135570-0A51-42A5-916F-175B6E10395B}"/>
              </a:ext>
            </a:extLst>
          </p:cNvPr>
          <p:cNvSpPr txBox="1"/>
          <p:nvPr/>
        </p:nvSpPr>
        <p:spPr>
          <a:xfrm>
            <a:off x="512064" y="20025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/api/users/login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9B5D72-4438-1EAE-21DA-3930EE4CFDDC}"/>
              </a:ext>
            </a:extLst>
          </p:cNvPr>
          <p:cNvSpPr/>
          <p:nvPr/>
        </p:nvSpPr>
        <p:spPr>
          <a:xfrm>
            <a:off x="4160520" y="1929384"/>
            <a:ext cx="7315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A36CA0-01F2-891B-661B-1C2E62D88C29}"/>
              </a:ext>
            </a:extLst>
          </p:cNvPr>
          <p:cNvSpPr txBox="1"/>
          <p:nvPr/>
        </p:nvSpPr>
        <p:spPr>
          <a:xfrm>
            <a:off x="4215384" y="2002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B490FD-EE09-01F8-73F3-87A515FD7E22}"/>
              </a:ext>
            </a:extLst>
          </p:cNvPr>
          <p:cNvSpPr/>
          <p:nvPr/>
        </p:nvSpPr>
        <p:spPr>
          <a:xfrm>
            <a:off x="4937760" y="1929384"/>
            <a:ext cx="694944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35D5FB-A030-E065-3104-28557FBEE357}"/>
              </a:ext>
            </a:extLst>
          </p:cNvPr>
          <p:cNvSpPr txBox="1"/>
          <p:nvPr/>
        </p:nvSpPr>
        <p:spPr>
          <a:xfrm>
            <a:off x="4992624" y="200253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JWT токен буцсан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ED94F-5AE8-9A00-BA2F-F73ADFD2C181}"/>
              </a:ext>
            </a:extLst>
          </p:cNvPr>
          <p:cNvSpPr/>
          <p:nvPr/>
        </p:nvSpPr>
        <p:spPr>
          <a:xfrm>
            <a:off x="457200" y="2350008"/>
            <a:ext cx="365760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2D5A02-371D-E48A-3B7A-47BC6BCC5046}"/>
              </a:ext>
            </a:extLst>
          </p:cNvPr>
          <p:cNvSpPr txBox="1"/>
          <p:nvPr/>
        </p:nvSpPr>
        <p:spPr>
          <a:xfrm>
            <a:off x="512064" y="24231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/api/bidding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D043A0-E4A1-9F63-B75C-3BBF5A2D930B}"/>
              </a:ext>
            </a:extLst>
          </p:cNvPr>
          <p:cNvSpPr/>
          <p:nvPr/>
        </p:nvSpPr>
        <p:spPr>
          <a:xfrm>
            <a:off x="4160520" y="2350008"/>
            <a:ext cx="7315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0A4195-6F3D-47DF-C5EE-89FF8366C3F2}"/>
              </a:ext>
            </a:extLst>
          </p:cNvPr>
          <p:cNvSpPr txBox="1"/>
          <p:nvPr/>
        </p:nvSpPr>
        <p:spPr>
          <a:xfrm>
            <a:off x="4215384" y="24231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E45CA8-83A4-47BD-2B96-C6E7F4731956}"/>
              </a:ext>
            </a:extLst>
          </p:cNvPr>
          <p:cNvSpPr/>
          <p:nvPr/>
        </p:nvSpPr>
        <p:spPr>
          <a:xfrm>
            <a:off x="4937760" y="2350008"/>
            <a:ext cx="694944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C11521-2094-E028-DD02-657BE43E6FEA}"/>
              </a:ext>
            </a:extLst>
          </p:cNvPr>
          <p:cNvSpPr txBox="1"/>
          <p:nvPr/>
        </p:nvSpPr>
        <p:spPr>
          <a:xfrm>
            <a:off x="4992624" y="24231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Bid бүртгэгдсэн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CCF81E-C438-6FD3-17DE-0716AEFCB6BE}"/>
              </a:ext>
            </a:extLst>
          </p:cNvPr>
          <p:cNvSpPr/>
          <p:nvPr/>
        </p:nvSpPr>
        <p:spPr>
          <a:xfrm>
            <a:off x="457200" y="2770632"/>
            <a:ext cx="365760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E65D28-50EC-D99A-D7D6-83C742367A43}"/>
              </a:ext>
            </a:extLst>
          </p:cNvPr>
          <p:cNvSpPr txBox="1"/>
          <p:nvPr/>
        </p:nvSpPr>
        <p:spPr>
          <a:xfrm>
            <a:off x="512064" y="284378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/api/bidding (бага үнэ)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A0F27F-24A4-0FB9-2096-64A309B3D8F0}"/>
              </a:ext>
            </a:extLst>
          </p:cNvPr>
          <p:cNvSpPr/>
          <p:nvPr/>
        </p:nvSpPr>
        <p:spPr>
          <a:xfrm>
            <a:off x="4160520" y="2770632"/>
            <a:ext cx="7315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15851D-D06A-A338-F2A6-DD5640FEDFF5}"/>
              </a:ext>
            </a:extLst>
          </p:cNvPr>
          <p:cNvSpPr txBox="1"/>
          <p:nvPr/>
        </p:nvSpPr>
        <p:spPr>
          <a:xfrm>
            <a:off x="4215384" y="28437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F4444"/>
                </a:solidFill>
              </a:rPr>
              <a:t>400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662059-3E32-9841-EBD1-FBF3AE94F40A}"/>
              </a:ext>
            </a:extLst>
          </p:cNvPr>
          <p:cNvSpPr/>
          <p:nvPr/>
        </p:nvSpPr>
        <p:spPr>
          <a:xfrm>
            <a:off x="4937760" y="2770632"/>
            <a:ext cx="694944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B7DAD1-9E5C-8202-07DC-1A7F4CD837BA}"/>
              </a:ext>
            </a:extLst>
          </p:cNvPr>
          <p:cNvSpPr txBox="1"/>
          <p:nvPr/>
        </p:nvSpPr>
        <p:spPr>
          <a:xfrm>
            <a:off x="4992624" y="284378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Bid too low — зөв алдаа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04BA28-7A7F-088D-1FAB-08ADB680448F}"/>
              </a:ext>
            </a:extLst>
          </p:cNvPr>
          <p:cNvSpPr/>
          <p:nvPr/>
        </p:nvSpPr>
        <p:spPr>
          <a:xfrm>
            <a:off x="457200" y="3191256"/>
            <a:ext cx="365760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D58DD6-766B-7CC4-C6A7-624D71D2DB06}"/>
              </a:ext>
            </a:extLst>
          </p:cNvPr>
          <p:cNvSpPr txBox="1"/>
          <p:nvPr/>
        </p:nvSpPr>
        <p:spPr>
          <a:xfrm>
            <a:off x="512064" y="32644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POST /api/product/:id/buy-now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C58B27-795B-FFB8-2147-36D695E73671}"/>
              </a:ext>
            </a:extLst>
          </p:cNvPr>
          <p:cNvSpPr/>
          <p:nvPr/>
        </p:nvSpPr>
        <p:spPr>
          <a:xfrm>
            <a:off x="4160520" y="3191256"/>
            <a:ext cx="73152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FE6BC9-853D-9D46-F782-AF0BA3B26769}"/>
              </a:ext>
            </a:extLst>
          </p:cNvPr>
          <p:cNvSpPr txBox="1"/>
          <p:nvPr/>
        </p:nvSpPr>
        <p:spPr>
          <a:xfrm>
            <a:off x="4215384" y="32644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3A9734-E692-E5AE-ADFC-C5768950D94E}"/>
              </a:ext>
            </a:extLst>
          </p:cNvPr>
          <p:cNvSpPr/>
          <p:nvPr/>
        </p:nvSpPr>
        <p:spPr>
          <a:xfrm>
            <a:off x="4937760" y="3191256"/>
            <a:ext cx="6949440" cy="384048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600A41-E892-8299-1482-F1749887F0D4}"/>
              </a:ext>
            </a:extLst>
          </p:cNvPr>
          <p:cNvSpPr txBox="1"/>
          <p:nvPr/>
        </p:nvSpPr>
        <p:spPr>
          <a:xfrm>
            <a:off x="4992624" y="326440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Шууд худалдаж авсан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1D85E13-C9BA-A480-C13F-2F8BC8815DF0}"/>
              </a:ext>
            </a:extLst>
          </p:cNvPr>
          <p:cNvSpPr/>
          <p:nvPr/>
        </p:nvSpPr>
        <p:spPr>
          <a:xfrm>
            <a:off x="457200" y="3611880"/>
            <a:ext cx="365760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99BB66-87D5-5F08-480E-535FEB4D3679}"/>
              </a:ext>
            </a:extLst>
          </p:cNvPr>
          <p:cNvSpPr txBox="1"/>
          <p:nvPr/>
        </p:nvSpPr>
        <p:spPr>
          <a:xfrm>
            <a:off x="512064" y="368503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B6D4"/>
                </a:solidFill>
              </a:rPr>
              <a:t>GET  /api/product/products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891A59-4D19-08DB-5FB9-BD775B5A6D7D}"/>
              </a:ext>
            </a:extLst>
          </p:cNvPr>
          <p:cNvSpPr/>
          <p:nvPr/>
        </p:nvSpPr>
        <p:spPr>
          <a:xfrm>
            <a:off x="4160520" y="3611880"/>
            <a:ext cx="73152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698BCBA-54BD-1618-5C2B-6E196F7B5D5A}"/>
              </a:ext>
            </a:extLst>
          </p:cNvPr>
          <p:cNvSpPr txBox="1"/>
          <p:nvPr/>
        </p:nvSpPr>
        <p:spPr>
          <a:xfrm>
            <a:off x="4215384" y="368503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200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68F50B-04DC-CEB4-9F9F-94FD8D55A209}"/>
              </a:ext>
            </a:extLst>
          </p:cNvPr>
          <p:cNvSpPr/>
          <p:nvPr/>
        </p:nvSpPr>
        <p:spPr>
          <a:xfrm>
            <a:off x="4937760" y="3611880"/>
            <a:ext cx="6949440" cy="384048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EA4336-3478-5721-2F6C-26E023EC58E9}"/>
              </a:ext>
            </a:extLst>
          </p:cNvPr>
          <p:cNvSpPr txBox="1"/>
          <p:nvPr/>
        </p:nvSpPr>
        <p:spPr>
          <a:xfrm>
            <a:off x="4992624" y="368503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Бараан жагсаалт буцсан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758A4D-9FDF-DF31-22DE-1EA6B0749626}"/>
              </a:ext>
            </a:extLst>
          </p:cNvPr>
          <p:cNvSpPr txBox="1"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Гүйцэтгэлийн үзүүлэлт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9A5EC7C-C458-12CD-A2E3-850A3444961F}"/>
              </a:ext>
            </a:extLst>
          </p:cNvPr>
          <p:cNvSpPr/>
          <p:nvPr/>
        </p:nvSpPr>
        <p:spPr>
          <a:xfrm>
            <a:off x="457200" y="4645152"/>
            <a:ext cx="356616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18A414-EAFA-C87E-DF7B-3014DD7DE137}"/>
              </a:ext>
            </a:extLst>
          </p:cNvPr>
          <p:cNvSpPr txBox="1"/>
          <p:nvPr/>
        </p:nvSpPr>
        <p:spPr>
          <a:xfrm>
            <a:off x="50292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20AD95-938D-0C43-EB27-A3F835B90C4F}"/>
              </a:ext>
            </a:extLst>
          </p:cNvPr>
          <p:cNvSpPr/>
          <p:nvPr/>
        </p:nvSpPr>
        <p:spPr>
          <a:xfrm>
            <a:off x="4114800" y="4645152"/>
            <a:ext cx="173736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3B3942-4A3A-1F30-83A2-9D645304DF15}"/>
              </a:ext>
            </a:extLst>
          </p:cNvPr>
          <p:cNvSpPr txBox="1"/>
          <p:nvPr/>
        </p:nvSpPr>
        <p:spPr>
          <a:xfrm>
            <a:off x="416052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Avg latency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8089EC7-982D-F60B-816C-DCA9ADD33DA4}"/>
              </a:ext>
            </a:extLst>
          </p:cNvPr>
          <p:cNvSpPr/>
          <p:nvPr/>
        </p:nvSpPr>
        <p:spPr>
          <a:xfrm>
            <a:off x="5943600" y="4645152"/>
            <a:ext cx="1737360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244B10-3C90-9718-A2C3-17013E8EB1CD}"/>
              </a:ext>
            </a:extLst>
          </p:cNvPr>
          <p:cNvSpPr txBox="1"/>
          <p:nvPr/>
        </p:nvSpPr>
        <p:spPr>
          <a:xfrm>
            <a:off x="598932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P95 latency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BEC6F0A-7834-42A9-66EB-6A181CF66D15}"/>
              </a:ext>
            </a:extLst>
          </p:cNvPr>
          <p:cNvSpPr/>
          <p:nvPr/>
        </p:nvSpPr>
        <p:spPr>
          <a:xfrm>
            <a:off x="457200" y="5010912"/>
            <a:ext cx="35661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ECECEC-BD3C-4635-F577-0C6FB6F9AA26}"/>
              </a:ext>
            </a:extLst>
          </p:cNvPr>
          <p:cNvSpPr txBox="1"/>
          <p:nvPr/>
        </p:nvSpPr>
        <p:spPr>
          <a:xfrm>
            <a:off x="502920" y="5065776"/>
            <a:ext cx="3493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GET /api/product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9EB7CFF-1FF3-0B45-E66A-97958914A857}"/>
              </a:ext>
            </a:extLst>
          </p:cNvPr>
          <p:cNvSpPr/>
          <p:nvPr/>
        </p:nvSpPr>
        <p:spPr>
          <a:xfrm>
            <a:off x="4114800" y="5010912"/>
            <a:ext cx="17373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ACB9B4-5B8D-D7A0-4158-2541C5D4058E}"/>
              </a:ext>
            </a:extLst>
          </p:cNvPr>
          <p:cNvSpPr txBox="1"/>
          <p:nvPr/>
        </p:nvSpPr>
        <p:spPr>
          <a:xfrm>
            <a:off x="4160520" y="506577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85 мс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F155DB3-8806-8CD2-FD42-901F3B0DCBF5}"/>
              </a:ext>
            </a:extLst>
          </p:cNvPr>
          <p:cNvSpPr/>
          <p:nvPr/>
        </p:nvSpPr>
        <p:spPr>
          <a:xfrm>
            <a:off x="5943600" y="5010912"/>
            <a:ext cx="17373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CF4506-8269-9898-786A-3907D354418C}"/>
              </a:ext>
            </a:extLst>
          </p:cNvPr>
          <p:cNvSpPr txBox="1"/>
          <p:nvPr/>
        </p:nvSpPr>
        <p:spPr>
          <a:xfrm>
            <a:off x="5989320" y="506577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220 мс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7619CD8-3107-BA52-3454-D74C30F6628F}"/>
              </a:ext>
            </a:extLst>
          </p:cNvPr>
          <p:cNvSpPr/>
          <p:nvPr/>
        </p:nvSpPr>
        <p:spPr>
          <a:xfrm>
            <a:off x="457200" y="5376672"/>
            <a:ext cx="3566160" cy="329184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596CA4-FFB9-2FCF-0020-26B566AD1411}"/>
              </a:ext>
            </a:extLst>
          </p:cNvPr>
          <p:cNvSpPr txBox="1"/>
          <p:nvPr/>
        </p:nvSpPr>
        <p:spPr>
          <a:xfrm>
            <a:off x="502920" y="5431536"/>
            <a:ext cx="3493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POST /api/bidding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7CA66BB-62CA-FAF4-B139-DF06CA3B9A81}"/>
              </a:ext>
            </a:extLst>
          </p:cNvPr>
          <p:cNvSpPr/>
          <p:nvPr/>
        </p:nvSpPr>
        <p:spPr>
          <a:xfrm>
            <a:off x="4114800" y="5376672"/>
            <a:ext cx="1737360" cy="329184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E30B84-33FF-8EA7-C4CE-5EBD9E74D9FD}"/>
              </a:ext>
            </a:extLst>
          </p:cNvPr>
          <p:cNvSpPr txBox="1"/>
          <p:nvPr/>
        </p:nvSpPr>
        <p:spPr>
          <a:xfrm>
            <a:off x="4160520" y="543153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110 мс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696B7-4925-F87B-B197-CD2E45C16D34}"/>
              </a:ext>
            </a:extLst>
          </p:cNvPr>
          <p:cNvSpPr/>
          <p:nvPr/>
        </p:nvSpPr>
        <p:spPr>
          <a:xfrm>
            <a:off x="5943600" y="5376672"/>
            <a:ext cx="1737360" cy="329184"/>
          </a:xfrm>
          <a:prstGeom prst="rect">
            <a:avLst/>
          </a:prstGeom>
          <a:solidFill>
            <a:srgbClr val="1A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4D8832-AAF4-1540-D023-15E9F74EE4DA}"/>
              </a:ext>
            </a:extLst>
          </p:cNvPr>
          <p:cNvSpPr txBox="1"/>
          <p:nvPr/>
        </p:nvSpPr>
        <p:spPr>
          <a:xfrm>
            <a:off x="5989320" y="543153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290 мс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ECAFF32-4DBE-C16A-4DFB-A4321F286AC6}"/>
              </a:ext>
            </a:extLst>
          </p:cNvPr>
          <p:cNvSpPr/>
          <p:nvPr/>
        </p:nvSpPr>
        <p:spPr>
          <a:xfrm>
            <a:off x="457200" y="5742432"/>
            <a:ext cx="35661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32583C-CAB4-C037-E135-5473AC954A19}"/>
              </a:ext>
            </a:extLst>
          </p:cNvPr>
          <p:cNvSpPr txBox="1"/>
          <p:nvPr/>
        </p:nvSpPr>
        <p:spPr>
          <a:xfrm>
            <a:off x="502920" y="5797296"/>
            <a:ext cx="34930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POST login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F50219F-F10A-2286-4B2D-15E14BD56105}"/>
              </a:ext>
            </a:extLst>
          </p:cNvPr>
          <p:cNvSpPr/>
          <p:nvPr/>
        </p:nvSpPr>
        <p:spPr>
          <a:xfrm>
            <a:off x="4114800" y="5742432"/>
            <a:ext cx="17373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E35C0E-587D-1604-4E96-668E61FB1DD8}"/>
              </a:ext>
            </a:extLst>
          </p:cNvPr>
          <p:cNvSpPr txBox="1"/>
          <p:nvPr/>
        </p:nvSpPr>
        <p:spPr>
          <a:xfrm>
            <a:off x="4160520" y="579729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180 мс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8DFC154-FD51-CD4D-222B-C4AB924CBAD4}"/>
              </a:ext>
            </a:extLst>
          </p:cNvPr>
          <p:cNvSpPr/>
          <p:nvPr/>
        </p:nvSpPr>
        <p:spPr>
          <a:xfrm>
            <a:off x="5943600" y="5742432"/>
            <a:ext cx="1737360" cy="329184"/>
          </a:xfrm>
          <a:prstGeom prst="rect">
            <a:avLst/>
          </a:prstGeom>
          <a:solidFill>
            <a:srgbClr val="16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1B22F3-DAD7-E2FE-0630-235D28651DA9}"/>
              </a:ext>
            </a:extLst>
          </p:cNvPr>
          <p:cNvSpPr txBox="1"/>
          <p:nvPr/>
        </p:nvSpPr>
        <p:spPr>
          <a:xfrm>
            <a:off x="5989320" y="5797296"/>
            <a:ext cx="1664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380 мс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B9C4F1-DFF1-4528-8AE9-6BA6083DD35F}"/>
              </a:ext>
            </a:extLst>
          </p:cNvPr>
          <p:cNvSpPr txBox="1"/>
          <p:nvPr/>
        </p:nvSpPr>
        <p:spPr>
          <a:xfrm>
            <a:off x="777240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Тестийн бүрхэвч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8E98A8D-BF5A-9F3E-DC9E-97864E8195EC}"/>
              </a:ext>
            </a:extLst>
          </p:cNvPr>
          <p:cNvSpPr/>
          <p:nvPr/>
        </p:nvSpPr>
        <p:spPr>
          <a:xfrm>
            <a:off x="7772400" y="46634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28DCCC-0473-31BC-6420-330F44A9BCED}"/>
              </a:ext>
            </a:extLst>
          </p:cNvPr>
          <p:cNvSpPr txBox="1"/>
          <p:nvPr/>
        </p:nvSpPr>
        <p:spPr>
          <a:xfrm>
            <a:off x="7909560" y="47365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Backend line coverage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0E83BC-73FD-7083-0C29-0F1C0D289A75}"/>
              </a:ext>
            </a:extLst>
          </p:cNvPr>
          <p:cNvSpPr txBox="1"/>
          <p:nvPr/>
        </p:nvSpPr>
        <p:spPr>
          <a:xfrm>
            <a:off x="10515600" y="47365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</a:rPr>
              <a:t>65%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7373CA8-B93F-4139-F190-8E7BC650C620}"/>
              </a:ext>
            </a:extLst>
          </p:cNvPr>
          <p:cNvSpPr/>
          <p:nvPr/>
        </p:nvSpPr>
        <p:spPr>
          <a:xfrm>
            <a:off x="7772400" y="51206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6A8C5E-D091-ED8D-681E-A1164B710F9D}"/>
              </a:ext>
            </a:extLst>
          </p:cNvPr>
          <p:cNvSpPr txBox="1"/>
          <p:nvPr/>
        </p:nvSpPr>
        <p:spPr>
          <a:xfrm>
            <a:off x="7909560" y="51937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Controller coverage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D36D7C-2D0F-CEC5-FF9A-FA6BEB242479}"/>
              </a:ext>
            </a:extLst>
          </p:cNvPr>
          <p:cNvSpPr txBox="1"/>
          <p:nvPr/>
        </p:nvSpPr>
        <p:spPr>
          <a:xfrm>
            <a:off x="10515600" y="51937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</a:rPr>
              <a:t>80%+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186625A-3BF1-ED0E-1CB7-4B8773292A69}"/>
              </a:ext>
            </a:extLst>
          </p:cNvPr>
          <p:cNvSpPr/>
          <p:nvPr/>
        </p:nvSpPr>
        <p:spPr>
          <a:xfrm>
            <a:off x="7772400" y="55778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84551D-815D-5249-EE35-525A62B87D68}"/>
              </a:ext>
            </a:extLst>
          </p:cNvPr>
          <p:cNvSpPr txBox="1"/>
          <p:nvPr/>
        </p:nvSpPr>
        <p:spPr>
          <a:xfrm>
            <a:off x="7909560" y="56509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Integration тест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AA4A8C7-5903-776F-AABC-584C0E832E05}"/>
              </a:ext>
            </a:extLst>
          </p:cNvPr>
          <p:cNvSpPr txBox="1"/>
          <p:nvPr/>
        </p:nvSpPr>
        <p:spPr>
          <a:xfrm>
            <a:off x="10515600" y="56509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6B6D4"/>
                </a:solidFill>
              </a:rPr>
              <a:t>18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666CB9D-9D1B-EAD2-3E0A-013DB505677E}"/>
              </a:ext>
            </a:extLst>
          </p:cNvPr>
          <p:cNvSpPr/>
          <p:nvPr/>
        </p:nvSpPr>
        <p:spPr>
          <a:xfrm>
            <a:off x="7772400" y="60350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99423E-3DD4-B0BE-9F6A-F55F552ACFE3}"/>
              </a:ext>
            </a:extLst>
          </p:cNvPr>
          <p:cNvSpPr txBox="1"/>
          <p:nvPr/>
        </p:nvSpPr>
        <p:spPr>
          <a:xfrm>
            <a:off x="7909560" y="61081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Real-time bid latency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E722648-5AB0-54E8-4D3D-6B2E5C871206}"/>
              </a:ext>
            </a:extLst>
          </p:cNvPr>
          <p:cNvSpPr txBox="1"/>
          <p:nvPr/>
        </p:nvSpPr>
        <p:spPr>
          <a:xfrm>
            <a:off x="10515600" y="61081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</a:rPr>
              <a:t>&lt;1 сек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5014BEA-8FEC-63A0-A0BD-045424F1AA4B}"/>
              </a:ext>
            </a:extLst>
          </p:cNvPr>
          <p:cNvSpPr/>
          <p:nvPr/>
        </p:nvSpPr>
        <p:spPr>
          <a:xfrm>
            <a:off x="7772400" y="6492240"/>
            <a:ext cx="4114800" cy="384048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7A9FA17-65E7-FF76-CEF3-2EA7F94FF235}"/>
              </a:ext>
            </a:extLst>
          </p:cNvPr>
          <p:cNvSpPr txBox="1"/>
          <p:nvPr/>
        </p:nvSpPr>
        <p:spPr>
          <a:xfrm>
            <a:off x="790956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P95 API latency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324A98C-3F0E-4EE5-019F-4E6DAFD4268D}"/>
              </a:ext>
            </a:extLst>
          </p:cNvPr>
          <p:cNvSpPr txBox="1"/>
          <p:nvPr/>
        </p:nvSpPr>
        <p:spPr>
          <a:xfrm>
            <a:off x="10515600" y="65653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0B981"/>
                </a:solidFill>
              </a:rPr>
              <a:t>&lt;400 мс</a:t>
            </a:r>
          </a:p>
        </p:txBody>
      </p:sp>
    </p:spTree>
    <p:extLst>
      <p:ext uri="{BB962C8B-B14F-4D97-AF65-F5344CB8AC3E}">
        <p14:creationId xmlns:p14="http://schemas.microsoft.com/office/powerpoint/2010/main" val="533948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228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АЮУЛГҮЙ БАЙДАЛ (OWASP Top-10)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10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2529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09728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122529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Broken Access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09728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7832" y="122529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Role-based middleware, ownership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3736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86537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173736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186537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Cryptographic Failures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173736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27832" y="186537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bcrypt 10 round, HTTPS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50545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237744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0432" y="250545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Injection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237744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27832" y="250545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Mongoose strict mode, input sanitization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1752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14553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301752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70432" y="314553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Security Misconfiguration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301752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27832" y="314553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helmet, .env, no debug in prod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5760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378561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365760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70432" y="378561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Vulnerable Components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54680" y="365760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27832" y="378561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npm audit, Dependabot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9768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442569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7280" y="429768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70432" y="442569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Auth Failures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429768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27832" y="442569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express-rate-limit, account lockout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937760"/>
            <a:ext cx="59436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5065776"/>
            <a:ext cx="4663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A09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4937760"/>
            <a:ext cx="20116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70432" y="5065776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B6D4"/>
                </a:solidFill>
              </a:rPr>
              <a:t>Logging Failures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54680" y="4937760"/>
            <a:ext cx="3840480" cy="566928"/>
          </a:xfrm>
          <a:prstGeom prst="rect">
            <a:avLst/>
          </a:prstGeom>
          <a:solidFill>
            <a:srgbClr val="1A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5065776"/>
            <a:ext cx="3712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0B981"/>
                </a:solidFill>
              </a:rPr>
              <a:t>Winston logs, centralized error handler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1051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B6D4"/>
                </a:solidFill>
              </a:rPr>
              <a:t>Нэвтрэлтийн урсгал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1508760"/>
            <a:ext cx="411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0" y="150876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156362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И-мэйл баталгаажуулах (OTP код)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1984248"/>
            <a:ext cx="411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72400" y="19842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20391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EULA зөвшөөрөх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0" y="2459736"/>
            <a:ext cx="411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772400" y="245973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25146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Бүртгэл дуусгах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0" y="2935224"/>
            <a:ext cx="411480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772400" y="293522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5320" y="299008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JWT токен олгох (7 хоног)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3593592"/>
            <a:ext cx="4114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772400" y="359359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364845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Google OAuth 2.0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4069080"/>
            <a:ext cx="4114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72400" y="406908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41239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И-мэйл / нууц үгээр нэвтрэлт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772400" y="4544568"/>
            <a:ext cx="4114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772400" y="45445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75320" y="45994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Refresh Token (AsyncStorage)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0624" y="22860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ЗОРИЛТЫН БИЕЛЭЛТ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09728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122529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Бодит цагийн дуудлага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09728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22529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Socket.IO bidUpdate &lt; 1 сек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182880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195681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QPay интеграц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0" y="182880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49240" y="195681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Sandbox тест, архитектур бэлэн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256032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256032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26883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Google OAuth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56032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9240" y="268833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Веб + Мобайл хоёуланд хэрэгжсэн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29184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29184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341985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Автомат дуудлага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329184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9240" y="341985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Cron job, ялагч тогтоох, balance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02336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02336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402336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415137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MongoDB Atlas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402336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415137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11 collection, replicaset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5488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475488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475488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" y="488289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Аюулгүй байдал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12080" y="475488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49240" y="488289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JWT+bcrypt+helmet, P95&lt;400мс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486400"/>
            <a:ext cx="475488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4754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" y="5486400"/>
            <a:ext cx="4114800" cy="621792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7280" y="561441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Тест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12080" y="5486400"/>
            <a:ext cx="6675120" cy="621792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49240" y="5614416"/>
            <a:ext cx="6492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Unit+Integration+API+Mobile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558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ДҮГНЭЛТ БА ЦААШДЫН ЧИГЛЭЛ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1274552" cy="25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91672" y="64922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0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✅  Гол ололтууд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Multi-platform систем: Web + iOS + Android нэгэн зэрэг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Бодит цагийн дуудлага: Socket.IO &lt;1 сек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Монгол зах зээлд тохирсон: QPay, 66 категори, Кирилл бүртгэл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803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FCM push notification: Бодит цагийн мэдэгдэл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375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Watchlist, Review систем: Хэрэглэгчийн идэвхийг дэмжих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51560"/>
            <a:ext cx="5486400" cy="384048"/>
          </a:xfrm>
          <a:prstGeom prst="rect">
            <a:avLst/>
          </a:prstGeom>
          <a:solidFill>
            <a:srgbClr val="88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069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🔮  Цаашдын хөгжүүлэлт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5087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Live video streaming (WebRTC / Twilio)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659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QPay бодит орчинд deploy, merchant agreement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AI chatbot (Claude/OpenAI) — хэрэглэгч тусламж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803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Anti-sniping — сүүлийн 60 сек +30 сек сунгах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Blockchain / NFT auction, smart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947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Multi-currency (USD, CNY), бодит цагийн ханш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519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▸  Penetration testing (OWASP ASVS)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Платформ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66519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66519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6519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Collection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5838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75838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34+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5838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Endpoint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85157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85157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5157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Socket event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4476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94476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66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4476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Ангилал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03795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03795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12K+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03795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Кодын мөр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13114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913114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&lt;400мс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3114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P95 latency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22433" y="5760720"/>
            <a:ext cx="1363599" cy="822960"/>
          </a:xfrm>
          <a:prstGeom prst="rect">
            <a:avLst/>
          </a:prstGeom>
          <a:solidFill>
            <a:srgbClr val="1E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22433" y="5779008"/>
            <a:ext cx="14093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</a:rPr>
              <a:t>&lt;1сек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22433" y="6181344"/>
            <a:ext cx="14093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Real-time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АНХААРАЛТАЙ
СОНССОНД БАЯРЛАЛАА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3657600" cy="457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Гүйцэтгэгч: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Т.Бөхбилэгт  (Түвшинзаяа Бөхбилэгт)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325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Удирдагч: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0325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Доктор (Ph.D), П.Энхтайван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53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Имэйл: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53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buhuu1125@gmail.com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</a:rPr>
              <a:t>ШУТИС МХТС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48737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Мэдээллийн технологийн тэнхим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Онлайн дуудлага худалдааны цогц системийн хөгжүүлэлт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629400"/>
            <a:ext cx="11274552" cy="1905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1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4908</TotalTime>
  <Words>2088</Words>
  <Application>Microsoft Office PowerPoint</Application>
  <PresentationFormat>Custom</PresentationFormat>
  <Paragraphs>394</Paragraphs>
  <Slides>14</Slides>
  <Notes>12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Bukhbilegt Tuvshinzaya</cp:lastModifiedBy>
  <cp:revision>8</cp:revision>
  <dcterms:created xsi:type="dcterms:W3CDTF">2013-01-27T09:14:16Z</dcterms:created>
  <dcterms:modified xsi:type="dcterms:W3CDTF">2026-06-08T03:47:03Z</dcterms:modified>
  <cp:category/>
</cp:coreProperties>
</file>